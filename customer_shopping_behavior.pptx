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9" r:id="rId2"/>
    <p:sldId id="256" r:id="rId3"/>
    <p:sldId id="258" r:id="rId4"/>
    <p:sldId id="260" r:id="rId5"/>
    <p:sldId id="273" r:id="rId6"/>
    <p:sldId id="274" r:id="rId7"/>
    <p:sldId id="275" r:id="rId8"/>
    <p:sldId id="276" r:id="rId9"/>
    <p:sldId id="277" r:id="rId10"/>
    <p:sldId id="261" r:id="rId11"/>
    <p:sldId id="262" r:id="rId12"/>
    <p:sldId id="263" r:id="rId13"/>
    <p:sldId id="264" r:id="rId14"/>
    <p:sldId id="271" r:id="rId15"/>
    <p:sldId id="272" r:id="rId16"/>
    <p:sldId id="268" r:id="rId17"/>
    <p:sldId id="270" r:id="rId18"/>
    <p:sldId id="269" r:id="rId19"/>
    <p:sldId id="267" r:id="rId20"/>
    <p:sldId id="26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9415C3-458D-4F1A-85E8-046866179F9A}" type="datetimeFigureOut">
              <a:rPr lang="en-IN" smtClean="0"/>
              <a:t>23-08-2026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987577-1012-4A76-B794-18ED3F1A8DE3}" type="slidenum">
              <a:rPr lang="en-IN" smtClean="0"/>
              <a:t>‹#›</a:t>
            </a:fld>
            <a:endParaRPr lang="en-IN"/>
          </a:p>
        </p:txBody>
      </p:sp>
    </p:spTree>
    <p:extLst>
      <p:ext uri="{BB962C8B-B14F-4D97-AF65-F5344CB8AC3E}">
        <p14:creationId xmlns:p14="http://schemas.microsoft.com/office/powerpoint/2010/main" val="306665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5624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087702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696140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93213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993383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235883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115164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382193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09903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117212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994808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915C9-AF1F-B1BD-9239-C2DE2E7648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E43D85-E37E-6095-172D-300F0133F1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9A3B1B-A802-1C26-35E5-D6CF169F853C}"/>
              </a:ext>
            </a:extLst>
          </p:cNvPr>
          <p:cNvSpPr>
            <a:spLocks noGrp="1"/>
          </p:cNvSpPr>
          <p:nvPr>
            <p:ph type="dt" sz="half" idx="10"/>
          </p:nvPr>
        </p:nvSpPr>
        <p:spPr/>
        <p:txBody>
          <a:bodyPr/>
          <a:lstStyle/>
          <a:p>
            <a:fld id="{8DA5DFF5-BB80-4FA9-8B29-4E9D1F9AE576}" type="datetimeFigureOut">
              <a:rPr lang="en-IN" smtClean="0"/>
              <a:t>23-08-2026</a:t>
            </a:fld>
            <a:endParaRPr lang="en-IN"/>
          </a:p>
        </p:txBody>
      </p:sp>
      <p:sp>
        <p:nvSpPr>
          <p:cNvPr id="5" name="Footer Placeholder 4">
            <a:extLst>
              <a:ext uri="{FF2B5EF4-FFF2-40B4-BE49-F238E27FC236}">
                <a16:creationId xmlns:a16="http://schemas.microsoft.com/office/drawing/2014/main" id="{2B781913-7AEF-7D6D-991E-3420465B3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E1703C-760D-5F25-4070-D6576AAB54E2}"/>
              </a:ext>
            </a:extLst>
          </p:cNvPr>
          <p:cNvSpPr>
            <a:spLocks noGrp="1"/>
          </p:cNvSpPr>
          <p:nvPr>
            <p:ph type="sldNum" sz="quarter" idx="12"/>
          </p:nvPr>
        </p:nvSpPr>
        <p:spPr/>
        <p:txBody>
          <a:bodyPr/>
          <a:lstStyle/>
          <a:p>
            <a:fld id="{1D6DAF6D-6077-4BB1-AC7D-313CC42A9EC3}" type="slidenum">
              <a:rPr lang="en-IN" smtClean="0"/>
              <a:t>‹#›</a:t>
            </a:fld>
            <a:endParaRPr lang="en-IN"/>
          </a:p>
        </p:txBody>
      </p:sp>
    </p:spTree>
    <p:extLst>
      <p:ext uri="{BB962C8B-B14F-4D97-AF65-F5344CB8AC3E}">
        <p14:creationId xmlns:p14="http://schemas.microsoft.com/office/powerpoint/2010/main" val="3896008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5FBB1-015D-EA99-DE70-C84BB12D98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D36914-FE15-8FD4-3E50-04694B8C31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6A4772-CA65-4257-7504-3AF691EEA562}"/>
              </a:ext>
            </a:extLst>
          </p:cNvPr>
          <p:cNvSpPr>
            <a:spLocks noGrp="1"/>
          </p:cNvSpPr>
          <p:nvPr>
            <p:ph type="dt" sz="half" idx="10"/>
          </p:nvPr>
        </p:nvSpPr>
        <p:spPr/>
        <p:txBody>
          <a:bodyPr/>
          <a:lstStyle/>
          <a:p>
            <a:fld id="{8DA5DFF5-BB80-4FA9-8B29-4E9D1F9AE576}" type="datetimeFigureOut">
              <a:rPr lang="en-IN" smtClean="0"/>
              <a:t>23-08-2026</a:t>
            </a:fld>
            <a:endParaRPr lang="en-IN"/>
          </a:p>
        </p:txBody>
      </p:sp>
      <p:sp>
        <p:nvSpPr>
          <p:cNvPr id="5" name="Footer Placeholder 4">
            <a:extLst>
              <a:ext uri="{FF2B5EF4-FFF2-40B4-BE49-F238E27FC236}">
                <a16:creationId xmlns:a16="http://schemas.microsoft.com/office/drawing/2014/main" id="{50060E41-A789-713D-D6C8-00F6AD749D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2DE238-1665-952B-ADC6-AAB03E2B0DA7}"/>
              </a:ext>
            </a:extLst>
          </p:cNvPr>
          <p:cNvSpPr>
            <a:spLocks noGrp="1"/>
          </p:cNvSpPr>
          <p:nvPr>
            <p:ph type="sldNum" sz="quarter" idx="12"/>
          </p:nvPr>
        </p:nvSpPr>
        <p:spPr/>
        <p:txBody>
          <a:bodyPr/>
          <a:lstStyle/>
          <a:p>
            <a:fld id="{1D6DAF6D-6077-4BB1-AC7D-313CC42A9EC3}" type="slidenum">
              <a:rPr lang="en-IN" smtClean="0"/>
              <a:t>‹#›</a:t>
            </a:fld>
            <a:endParaRPr lang="en-IN"/>
          </a:p>
        </p:txBody>
      </p:sp>
    </p:spTree>
    <p:extLst>
      <p:ext uri="{BB962C8B-B14F-4D97-AF65-F5344CB8AC3E}">
        <p14:creationId xmlns:p14="http://schemas.microsoft.com/office/powerpoint/2010/main" val="1108652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820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761970" rtl="0" eaLnBrk="1" latinLnBrk="0" hangingPunct="1">
        <a:spcBef>
          <a:spcPct val="0"/>
        </a:spcBef>
        <a:buNone/>
        <a:defRPr sz="3667" kern="1200">
          <a:solidFill>
            <a:schemeClr val="tx1"/>
          </a:solidFill>
          <a:latin typeface="+mj-lt"/>
          <a:ea typeface="+mj-ea"/>
          <a:cs typeface="+mj-cs"/>
        </a:defRPr>
      </a:lvl1pPr>
    </p:titleStyle>
    <p:bodyStyle>
      <a:lvl1pPr marL="285739" indent="-285739" algn="l" defTabSz="761970" rtl="0" eaLnBrk="1" latinLnBrk="0" hangingPunct="1">
        <a:spcBef>
          <a:spcPct val="20000"/>
        </a:spcBef>
        <a:buFont typeface="Arial" pitchFamily="34" charset="0"/>
        <a:buChar char="•"/>
        <a:defRPr sz="2667" kern="1200">
          <a:solidFill>
            <a:schemeClr val="tx1"/>
          </a:solidFill>
          <a:latin typeface="+mn-lt"/>
          <a:ea typeface="+mn-ea"/>
          <a:cs typeface="+mn-cs"/>
        </a:defRPr>
      </a:lvl1pPr>
      <a:lvl2pPr marL="619100" indent="-238115" algn="l" defTabSz="761970" rtl="0" eaLnBrk="1" latinLnBrk="0" hangingPunct="1">
        <a:spcBef>
          <a:spcPct val="20000"/>
        </a:spcBef>
        <a:buFont typeface="Arial" pitchFamily="34" charset="0"/>
        <a:buChar char="–"/>
        <a:defRPr sz="2333" kern="1200">
          <a:solidFill>
            <a:schemeClr val="tx1"/>
          </a:solidFill>
          <a:latin typeface="+mn-lt"/>
          <a:ea typeface="+mn-ea"/>
          <a:cs typeface="+mn-cs"/>
        </a:defRPr>
      </a:lvl2pPr>
      <a:lvl3pPr marL="952462" indent="-190492" algn="l" defTabSz="76197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333447"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4pPr>
      <a:lvl5pPr marL="171443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ABDF5A8-3F45-6813-2435-C69D6E98A55A}"/>
              </a:ext>
            </a:extLst>
          </p:cNvPr>
          <p:cNvSpPr txBox="1"/>
          <p:nvPr/>
        </p:nvSpPr>
        <p:spPr>
          <a:xfrm>
            <a:off x="5742772" y="1381852"/>
            <a:ext cx="7463948" cy="1938992"/>
          </a:xfrm>
          <a:prstGeom prst="rect">
            <a:avLst/>
          </a:prstGeom>
          <a:noFill/>
          <a:ln>
            <a:noFill/>
          </a:ln>
        </p:spPr>
        <p:txBody>
          <a:bodyPr wrap="square" rtlCol="0">
            <a:spAutoFit/>
          </a:bodyPr>
          <a:lstStyle/>
          <a:p>
            <a:r>
              <a:rPr lang="en-IN" sz="6000" b="1" i="1" dirty="0">
                <a:effectLst>
                  <a:outerShdw blurRad="38100" dist="38100" dir="2700000" algn="tl">
                    <a:srgbClr val="000000">
                      <a:alpha val="43137"/>
                    </a:srgbClr>
                  </a:outerShdw>
                </a:effectLst>
              </a:rPr>
              <a:t>Customer Shopping Behaviour Analysis </a:t>
            </a:r>
          </a:p>
        </p:txBody>
      </p:sp>
      <p:pic>
        <p:nvPicPr>
          <p:cNvPr id="9" name="Image 0" descr="preencoded.png">
            <a:extLst>
              <a:ext uri="{FF2B5EF4-FFF2-40B4-BE49-F238E27FC236}">
                <a16:creationId xmlns:a16="http://schemas.microsoft.com/office/drawing/2014/main" id="{05D9802E-835E-3662-674E-AA869CB5DF24}"/>
              </a:ext>
            </a:extLst>
          </p:cNvPr>
          <p:cNvPicPr>
            <a:picLocks noChangeAspect="1"/>
          </p:cNvPicPr>
          <p:nvPr/>
        </p:nvPicPr>
        <p:blipFill>
          <a:blip r:embed="rId2"/>
          <a:stretch>
            <a:fillRect/>
          </a:stretch>
        </p:blipFill>
        <p:spPr>
          <a:xfrm>
            <a:off x="68826" y="44246"/>
            <a:ext cx="4925961" cy="6769507"/>
          </a:xfrm>
          <a:prstGeom prst="rect">
            <a:avLst/>
          </a:prstGeom>
          <a:solidFill>
            <a:schemeClr val="accent2"/>
          </a:solidFill>
        </p:spPr>
      </p:pic>
      <p:sp>
        <p:nvSpPr>
          <p:cNvPr id="17" name="Text 1">
            <a:extLst>
              <a:ext uri="{FF2B5EF4-FFF2-40B4-BE49-F238E27FC236}">
                <a16:creationId xmlns:a16="http://schemas.microsoft.com/office/drawing/2014/main" id="{7380ED70-E213-D3F8-9101-FE24F95A3491}"/>
              </a:ext>
            </a:extLst>
          </p:cNvPr>
          <p:cNvSpPr/>
          <p:nvPr/>
        </p:nvSpPr>
        <p:spPr>
          <a:xfrm>
            <a:off x="6705602" y="4424221"/>
            <a:ext cx="5695500"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Uncovering insights from 3,900 purchases to guide strategic business decisions</a:t>
            </a:r>
            <a:endParaRPr lang="en-US" sz="1750" dirty="0"/>
          </a:p>
        </p:txBody>
      </p:sp>
    </p:spTree>
    <p:extLst>
      <p:ext uri="{BB962C8B-B14F-4D97-AF65-F5344CB8AC3E}">
        <p14:creationId xmlns:p14="http://schemas.microsoft.com/office/powerpoint/2010/main" val="202964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FAD577B-8C57-1D5E-7895-6302B39C8D85}"/>
              </a:ext>
            </a:extLst>
          </p:cNvPr>
          <p:cNvSpPr txBox="1"/>
          <p:nvPr/>
        </p:nvSpPr>
        <p:spPr>
          <a:xfrm>
            <a:off x="341642" y="387925"/>
            <a:ext cx="10778641" cy="4062651"/>
          </a:xfrm>
          <a:prstGeom prst="rect">
            <a:avLst/>
          </a:prstGeom>
          <a:noFill/>
        </p:spPr>
        <p:txBody>
          <a:bodyPr wrap="square" rtlCol="0">
            <a:spAutoFit/>
          </a:bodyPr>
          <a:lstStyle/>
          <a:p>
            <a:endParaRPr lang="en-IN" u="sng" dirty="0"/>
          </a:p>
          <a:p>
            <a:r>
              <a:rPr lang="en-IN" sz="2400" b="1" u="sng" dirty="0">
                <a:solidFill>
                  <a:srgbClr val="FF0000"/>
                </a:solidFill>
              </a:rPr>
              <a:t>Problem Statement</a:t>
            </a:r>
            <a:r>
              <a:rPr lang="en-IN" u="sng" dirty="0">
                <a:solidFill>
                  <a:srgbClr val="FF0000"/>
                </a:solidFill>
                <a:sym typeface="Wingdings" panose="05000000000000000000" pitchFamily="2" charset="2"/>
              </a:rPr>
              <a:t></a:t>
            </a:r>
          </a:p>
          <a:p>
            <a:endParaRPr lang="en-IN" dirty="0"/>
          </a:p>
          <a:p>
            <a:r>
              <a:rPr lang="en-US" dirty="0"/>
              <a:t> A leading retail company wants to better understand its customers’ shopping behavior in order to improve sales, customer satisfaction, and long-term loyalty. The management team has noticed changes in purchasing patterns across demographics, product categories, and sales channels (online vs. offline). They are particularly interested in uncovering which factors, such as discounts, reviews, seasons, or payment preferences, drive consumer decisions and repeat purchases. </a:t>
            </a:r>
          </a:p>
          <a:p>
            <a:endParaRPr lang="en-US" dirty="0"/>
          </a:p>
          <a:p>
            <a:r>
              <a:rPr lang="en-US" dirty="0"/>
              <a:t>You are tasked with analyzing the company’s consumer behavior dataset to answer the following overarching business question: </a:t>
            </a:r>
          </a:p>
          <a:p>
            <a:endParaRPr lang="en-US" dirty="0"/>
          </a:p>
          <a:p>
            <a:r>
              <a:rPr lang="en-US" b="1" dirty="0"/>
              <a:t>“How can the company leverage consumer shopping data to identify trends, improve customer engagement, and optimize marketing and product strategies?” </a:t>
            </a:r>
            <a:endParaRPr lang="en-IN" dirty="0"/>
          </a:p>
        </p:txBody>
      </p:sp>
    </p:spTree>
    <p:extLst>
      <p:ext uri="{BB962C8B-B14F-4D97-AF65-F5344CB8AC3E}">
        <p14:creationId xmlns:p14="http://schemas.microsoft.com/office/powerpoint/2010/main" val="367873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FC39D-410A-5F3A-88F4-B36457035DD2}"/>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38EF5894-87D0-67BC-A37B-125DC901300C}"/>
              </a:ext>
            </a:extLst>
          </p:cNvPr>
          <p:cNvSpPr/>
          <p:nvPr/>
        </p:nvSpPr>
        <p:spPr>
          <a:xfrm>
            <a:off x="661492" y="3340596"/>
            <a:ext cx="4725492" cy="590649"/>
          </a:xfrm>
          <a:prstGeom prst="rect">
            <a:avLst/>
          </a:prstGeom>
          <a:noFill/>
          <a:ln/>
        </p:spPr>
        <p:txBody>
          <a:bodyPr wrap="none" lIns="0" tIns="0" rIns="0" bIns="0" rtlCol="0" anchor="t"/>
          <a:lstStyle/>
          <a:p>
            <a:pPr>
              <a:lnSpc>
                <a:spcPts val="4625"/>
              </a:lnSpc>
            </a:pPr>
            <a:r>
              <a:rPr lang="en-US" sz="3708" dirty="0">
                <a:solidFill>
                  <a:srgbClr val="5C4E3D"/>
                </a:solidFill>
                <a:latin typeface="Libre Baskerville" pitchFamily="34" charset="0"/>
                <a:ea typeface="Libre Baskerville" pitchFamily="34" charset="-122"/>
                <a:cs typeface="Libre Baskerville" pitchFamily="34" charset="-120"/>
              </a:rPr>
              <a:t>Dataset Overview</a:t>
            </a:r>
            <a:endParaRPr lang="en-US" sz="3708" dirty="0"/>
          </a:p>
        </p:txBody>
      </p:sp>
      <p:sp>
        <p:nvSpPr>
          <p:cNvPr id="8" name="Text 1">
            <a:extLst>
              <a:ext uri="{FF2B5EF4-FFF2-40B4-BE49-F238E27FC236}">
                <a16:creationId xmlns:a16="http://schemas.microsoft.com/office/drawing/2014/main" id="{A00EF5DF-8DFF-3FD9-6C74-3A1732A34609}"/>
              </a:ext>
            </a:extLst>
          </p:cNvPr>
          <p:cNvSpPr/>
          <p:nvPr/>
        </p:nvSpPr>
        <p:spPr>
          <a:xfrm>
            <a:off x="661492" y="4309170"/>
            <a:ext cx="3465513" cy="623689"/>
          </a:xfrm>
          <a:prstGeom prst="rect">
            <a:avLst/>
          </a:prstGeom>
          <a:noFill/>
          <a:ln/>
        </p:spPr>
        <p:txBody>
          <a:bodyPr wrap="none" lIns="0" tIns="0" rIns="0" bIns="0" rtlCol="0" anchor="t"/>
          <a:lstStyle/>
          <a:p>
            <a:pPr algn="ctr">
              <a:lnSpc>
                <a:spcPts val="4875"/>
              </a:lnSpc>
            </a:pPr>
            <a:r>
              <a:rPr lang="en-US" sz="4875" dirty="0">
                <a:solidFill>
                  <a:srgbClr val="454240"/>
                </a:solidFill>
                <a:latin typeface="Libre Baskerville" pitchFamily="34" charset="0"/>
                <a:ea typeface="Libre Baskerville" pitchFamily="34" charset="-122"/>
                <a:cs typeface="Libre Baskerville" pitchFamily="34" charset="-120"/>
              </a:rPr>
              <a:t>3,900</a:t>
            </a:r>
            <a:endParaRPr lang="en-US" sz="4875" dirty="0"/>
          </a:p>
        </p:txBody>
      </p:sp>
      <p:sp>
        <p:nvSpPr>
          <p:cNvPr id="10" name="Text 2">
            <a:extLst>
              <a:ext uri="{FF2B5EF4-FFF2-40B4-BE49-F238E27FC236}">
                <a16:creationId xmlns:a16="http://schemas.microsoft.com/office/drawing/2014/main" id="{E3EC3E5C-7E46-0C25-ACC9-FC48534DE3B3}"/>
              </a:ext>
            </a:extLst>
          </p:cNvPr>
          <p:cNvSpPr/>
          <p:nvPr/>
        </p:nvSpPr>
        <p:spPr>
          <a:xfrm>
            <a:off x="1212850" y="5168999"/>
            <a:ext cx="2362696" cy="295275"/>
          </a:xfrm>
          <a:prstGeom prst="rect">
            <a:avLst/>
          </a:prstGeom>
          <a:noFill/>
          <a:ln/>
        </p:spPr>
        <p:txBody>
          <a:bodyPr wrap="none" lIns="0" tIns="0" rIns="0" bIns="0" rtlCol="0" anchor="t"/>
          <a:lstStyle/>
          <a:p>
            <a:pPr algn="ctr">
              <a:lnSpc>
                <a:spcPts val="2292"/>
              </a:lnSpc>
            </a:pPr>
            <a:r>
              <a:rPr lang="en-US" sz="1833" dirty="0">
                <a:solidFill>
                  <a:srgbClr val="454240"/>
                </a:solidFill>
                <a:latin typeface="Libre Baskerville" pitchFamily="34" charset="0"/>
                <a:ea typeface="Libre Baskerville" pitchFamily="34" charset="-122"/>
                <a:cs typeface="Libre Baskerville" pitchFamily="34" charset="-120"/>
              </a:rPr>
              <a:t>Total Purchases</a:t>
            </a:r>
            <a:endParaRPr lang="en-US" sz="1833" dirty="0"/>
          </a:p>
        </p:txBody>
      </p:sp>
      <p:sp>
        <p:nvSpPr>
          <p:cNvPr id="12" name="Text 3">
            <a:extLst>
              <a:ext uri="{FF2B5EF4-FFF2-40B4-BE49-F238E27FC236}">
                <a16:creationId xmlns:a16="http://schemas.microsoft.com/office/drawing/2014/main" id="{5B0A057D-8490-F1EC-F55D-A9C443631D9F}"/>
              </a:ext>
            </a:extLst>
          </p:cNvPr>
          <p:cNvSpPr/>
          <p:nvPr/>
        </p:nvSpPr>
        <p:spPr>
          <a:xfrm>
            <a:off x="661492" y="5577682"/>
            <a:ext cx="3465513" cy="302419"/>
          </a:xfrm>
          <a:prstGeom prst="rect">
            <a:avLst/>
          </a:prstGeom>
          <a:noFill/>
          <a:ln/>
        </p:spPr>
        <p:txBody>
          <a:bodyPr wrap="none" lIns="0" tIns="0" rIns="0" bIns="0" rtlCol="0" anchor="t"/>
          <a:lstStyle/>
          <a:p>
            <a:pPr algn="ctr">
              <a:lnSpc>
                <a:spcPts val="2375"/>
              </a:lnSpc>
            </a:pPr>
            <a:r>
              <a:rPr lang="en-US" sz="1458" dirty="0">
                <a:solidFill>
                  <a:srgbClr val="454240"/>
                </a:solidFill>
                <a:latin typeface="DM Sans" pitchFamily="34" charset="0"/>
                <a:ea typeface="DM Sans" pitchFamily="34" charset="-122"/>
                <a:cs typeface="DM Sans" pitchFamily="34" charset="-120"/>
              </a:rPr>
              <a:t>Comprehensive transaction data</a:t>
            </a:r>
            <a:endParaRPr lang="en-US" sz="1458" dirty="0"/>
          </a:p>
        </p:txBody>
      </p:sp>
      <p:sp>
        <p:nvSpPr>
          <p:cNvPr id="14" name="Text 4">
            <a:extLst>
              <a:ext uri="{FF2B5EF4-FFF2-40B4-BE49-F238E27FC236}">
                <a16:creationId xmlns:a16="http://schemas.microsoft.com/office/drawing/2014/main" id="{C34AFD69-A28D-D94C-12FA-2B4D7B1A7E67}"/>
              </a:ext>
            </a:extLst>
          </p:cNvPr>
          <p:cNvSpPr/>
          <p:nvPr/>
        </p:nvSpPr>
        <p:spPr>
          <a:xfrm>
            <a:off x="4363244" y="4309170"/>
            <a:ext cx="3465513" cy="623689"/>
          </a:xfrm>
          <a:prstGeom prst="rect">
            <a:avLst/>
          </a:prstGeom>
          <a:noFill/>
          <a:ln/>
        </p:spPr>
        <p:txBody>
          <a:bodyPr wrap="none" lIns="0" tIns="0" rIns="0" bIns="0" rtlCol="0" anchor="t"/>
          <a:lstStyle/>
          <a:p>
            <a:pPr algn="ctr">
              <a:lnSpc>
                <a:spcPts val="4875"/>
              </a:lnSpc>
            </a:pPr>
            <a:r>
              <a:rPr lang="en-US" sz="4875" dirty="0">
                <a:solidFill>
                  <a:srgbClr val="454240"/>
                </a:solidFill>
                <a:latin typeface="Libre Baskerville" pitchFamily="34" charset="0"/>
                <a:ea typeface="Libre Baskerville" pitchFamily="34" charset="-122"/>
                <a:cs typeface="Libre Baskerville" pitchFamily="34" charset="-120"/>
              </a:rPr>
              <a:t>18</a:t>
            </a:r>
            <a:endParaRPr lang="en-US" sz="4875" dirty="0"/>
          </a:p>
        </p:txBody>
      </p:sp>
      <p:sp>
        <p:nvSpPr>
          <p:cNvPr id="16" name="Text 5">
            <a:extLst>
              <a:ext uri="{FF2B5EF4-FFF2-40B4-BE49-F238E27FC236}">
                <a16:creationId xmlns:a16="http://schemas.microsoft.com/office/drawing/2014/main" id="{C9C02B2D-F779-CACD-E7B2-44904BD5A6B3}"/>
              </a:ext>
            </a:extLst>
          </p:cNvPr>
          <p:cNvSpPr/>
          <p:nvPr/>
        </p:nvSpPr>
        <p:spPr>
          <a:xfrm>
            <a:off x="4914603" y="5168999"/>
            <a:ext cx="2362696" cy="295275"/>
          </a:xfrm>
          <a:prstGeom prst="rect">
            <a:avLst/>
          </a:prstGeom>
          <a:noFill/>
          <a:ln/>
        </p:spPr>
        <p:txBody>
          <a:bodyPr wrap="none" lIns="0" tIns="0" rIns="0" bIns="0" rtlCol="0" anchor="t"/>
          <a:lstStyle/>
          <a:p>
            <a:pPr algn="ctr">
              <a:lnSpc>
                <a:spcPts val="2292"/>
              </a:lnSpc>
            </a:pPr>
            <a:r>
              <a:rPr lang="en-US" sz="1833" dirty="0">
                <a:solidFill>
                  <a:srgbClr val="454240"/>
                </a:solidFill>
                <a:latin typeface="Libre Baskerville" pitchFamily="34" charset="0"/>
                <a:ea typeface="Libre Baskerville" pitchFamily="34" charset="-122"/>
                <a:cs typeface="Libre Baskerville" pitchFamily="34" charset="-120"/>
              </a:rPr>
              <a:t>Data Columns</a:t>
            </a:r>
            <a:endParaRPr lang="en-US" sz="1833" dirty="0"/>
          </a:p>
        </p:txBody>
      </p:sp>
      <p:sp>
        <p:nvSpPr>
          <p:cNvPr id="18" name="Text 6">
            <a:extLst>
              <a:ext uri="{FF2B5EF4-FFF2-40B4-BE49-F238E27FC236}">
                <a16:creationId xmlns:a16="http://schemas.microsoft.com/office/drawing/2014/main" id="{196953C0-F9D6-F0E4-2741-B97A4D6C72EE}"/>
              </a:ext>
            </a:extLst>
          </p:cNvPr>
          <p:cNvSpPr/>
          <p:nvPr/>
        </p:nvSpPr>
        <p:spPr>
          <a:xfrm>
            <a:off x="4363244" y="5577682"/>
            <a:ext cx="3465513" cy="302419"/>
          </a:xfrm>
          <a:prstGeom prst="rect">
            <a:avLst/>
          </a:prstGeom>
          <a:noFill/>
          <a:ln/>
        </p:spPr>
        <p:txBody>
          <a:bodyPr wrap="none" lIns="0" tIns="0" rIns="0" bIns="0" rtlCol="0" anchor="t"/>
          <a:lstStyle/>
          <a:p>
            <a:pPr algn="ctr">
              <a:lnSpc>
                <a:spcPts val="2375"/>
              </a:lnSpc>
            </a:pPr>
            <a:r>
              <a:rPr lang="en-US" sz="1458" dirty="0">
                <a:solidFill>
                  <a:srgbClr val="454240"/>
                </a:solidFill>
                <a:latin typeface="DM Sans" pitchFamily="34" charset="0"/>
                <a:ea typeface="DM Sans" pitchFamily="34" charset="-122"/>
                <a:cs typeface="DM Sans" pitchFamily="34" charset="-120"/>
              </a:rPr>
              <a:t>Customer demographics &amp; behavior</a:t>
            </a:r>
            <a:endParaRPr lang="en-US" sz="1458" dirty="0"/>
          </a:p>
        </p:txBody>
      </p:sp>
      <p:pic>
        <p:nvPicPr>
          <p:cNvPr id="22" name="Image 0" descr="preencoded.png">
            <a:extLst>
              <a:ext uri="{FF2B5EF4-FFF2-40B4-BE49-F238E27FC236}">
                <a16:creationId xmlns:a16="http://schemas.microsoft.com/office/drawing/2014/main" id="{FE125AAD-E2FC-BAAD-1F17-29B2586FF9B0}"/>
              </a:ext>
            </a:extLst>
          </p:cNvPr>
          <p:cNvPicPr>
            <a:picLocks noChangeAspect="1"/>
          </p:cNvPicPr>
          <p:nvPr/>
        </p:nvPicPr>
        <p:blipFill>
          <a:blip r:embed="rId2"/>
          <a:stretch>
            <a:fillRect/>
          </a:stretch>
        </p:blipFill>
        <p:spPr>
          <a:xfrm>
            <a:off x="79768" y="0"/>
            <a:ext cx="12032464" cy="2331779"/>
          </a:xfrm>
          <a:prstGeom prst="rect">
            <a:avLst/>
          </a:prstGeom>
        </p:spPr>
      </p:pic>
      <p:sp>
        <p:nvSpPr>
          <p:cNvPr id="24" name="Text 7">
            <a:extLst>
              <a:ext uri="{FF2B5EF4-FFF2-40B4-BE49-F238E27FC236}">
                <a16:creationId xmlns:a16="http://schemas.microsoft.com/office/drawing/2014/main" id="{2852DF4C-0338-3485-5E06-D3E9228BE5E1}"/>
              </a:ext>
            </a:extLst>
          </p:cNvPr>
          <p:cNvSpPr/>
          <p:nvPr/>
        </p:nvSpPr>
        <p:spPr>
          <a:xfrm>
            <a:off x="8212990" y="4336343"/>
            <a:ext cx="3465514" cy="697773"/>
          </a:xfrm>
          <a:prstGeom prst="rect">
            <a:avLst/>
          </a:prstGeom>
          <a:noFill/>
          <a:ln/>
        </p:spPr>
        <p:txBody>
          <a:bodyPr wrap="none" lIns="0" tIns="0" rIns="0" bIns="0" rtlCol="0" anchor="t"/>
          <a:lstStyle/>
          <a:p>
            <a:pPr indent="0" algn="ctr">
              <a:lnSpc>
                <a:spcPts val="4875"/>
              </a:lnSpc>
              <a:buNone/>
            </a:pPr>
            <a:r>
              <a:rPr lang="en-US" sz="4875" dirty="0">
                <a:solidFill>
                  <a:srgbClr val="454240"/>
                </a:solidFill>
                <a:latin typeface="Libre Baskerville" pitchFamily="34" charset="0"/>
              </a:rPr>
              <a:t>37</a:t>
            </a:r>
          </a:p>
        </p:txBody>
      </p:sp>
      <p:sp>
        <p:nvSpPr>
          <p:cNvPr id="26" name="Text 8">
            <a:extLst>
              <a:ext uri="{FF2B5EF4-FFF2-40B4-BE49-F238E27FC236}">
                <a16:creationId xmlns:a16="http://schemas.microsoft.com/office/drawing/2014/main" id="{CB178D4B-DFAD-DDEB-0302-7DCF38FFB753}"/>
              </a:ext>
            </a:extLst>
          </p:cNvPr>
          <p:cNvSpPr/>
          <p:nvPr/>
        </p:nvSpPr>
        <p:spPr>
          <a:xfrm>
            <a:off x="8793894" y="5133925"/>
            <a:ext cx="2362697" cy="330349"/>
          </a:xfrm>
          <a:prstGeom prst="rect">
            <a:avLst/>
          </a:prstGeom>
          <a:noFill/>
          <a:ln/>
        </p:spPr>
        <p:txBody>
          <a:bodyPr wrap="none" lIns="0" tIns="0" rIns="0" bIns="0" rtlCol="0" anchor="t"/>
          <a:lstStyle/>
          <a:p>
            <a:pPr marL="0" indent="0" algn="ctr">
              <a:lnSpc>
                <a:spcPts val="2750"/>
              </a:lnSpc>
              <a:buNone/>
            </a:pPr>
            <a:r>
              <a:rPr lang="en-US" sz="1833" dirty="0">
                <a:solidFill>
                  <a:srgbClr val="454240"/>
                </a:solidFill>
                <a:latin typeface="Libre Baskerville" pitchFamily="34" charset="0"/>
              </a:rPr>
              <a:t>Missing Values</a:t>
            </a:r>
          </a:p>
        </p:txBody>
      </p:sp>
      <p:sp>
        <p:nvSpPr>
          <p:cNvPr id="28" name="Text 9">
            <a:extLst>
              <a:ext uri="{FF2B5EF4-FFF2-40B4-BE49-F238E27FC236}">
                <a16:creationId xmlns:a16="http://schemas.microsoft.com/office/drawing/2014/main" id="{171C521B-760C-84DD-5B1D-47AEC3C96C89}"/>
              </a:ext>
            </a:extLst>
          </p:cNvPr>
          <p:cNvSpPr/>
          <p:nvPr/>
        </p:nvSpPr>
        <p:spPr>
          <a:xfrm>
            <a:off x="8291647" y="5494766"/>
            <a:ext cx="3465514" cy="338342"/>
          </a:xfrm>
          <a:prstGeom prst="rect">
            <a:avLst/>
          </a:prstGeom>
          <a:noFill/>
          <a:ln/>
        </p:spPr>
        <p:txBody>
          <a:bodyPr wrap="none" lIns="0" tIns="0" rIns="0" bIns="0" rtlCol="0" anchor="t"/>
          <a:lstStyle/>
          <a:p>
            <a:pPr marL="0" indent="0" algn="ctr">
              <a:lnSpc>
                <a:spcPts val="2850"/>
              </a:lnSpc>
              <a:buNone/>
            </a:pPr>
            <a:r>
              <a:rPr lang="en-US" sz="1458" dirty="0">
                <a:solidFill>
                  <a:srgbClr val="454240"/>
                </a:solidFill>
                <a:latin typeface="DM Sans" pitchFamily="34" charset="0"/>
              </a:rPr>
              <a:t>Only in Review Rating column</a:t>
            </a:r>
          </a:p>
        </p:txBody>
      </p:sp>
    </p:spTree>
    <p:extLst>
      <p:ext uri="{BB962C8B-B14F-4D97-AF65-F5344CB8AC3E}">
        <p14:creationId xmlns:p14="http://schemas.microsoft.com/office/powerpoint/2010/main" val="390290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9D73CF-D97F-73A2-A7BA-B532EE1BC062}"/>
              </a:ext>
            </a:extLst>
          </p:cNvPr>
          <p:cNvSpPr txBox="1"/>
          <p:nvPr/>
        </p:nvSpPr>
        <p:spPr>
          <a:xfrm>
            <a:off x="1267268" y="315253"/>
            <a:ext cx="10019089" cy="662938"/>
          </a:xfrm>
          <a:prstGeom prst="rect">
            <a:avLst/>
          </a:prstGeom>
          <a:noFill/>
        </p:spPr>
        <p:txBody>
          <a:bodyPr wrap="none" rtlCol="0">
            <a:spAutoFit/>
          </a:bodyPr>
          <a:lstStyle/>
          <a:p>
            <a:r>
              <a:rPr lang="en-IN" sz="3708" dirty="0">
                <a:solidFill>
                  <a:srgbClr val="5C4E3D"/>
                </a:solidFill>
                <a:latin typeface="Libre Baskerville" pitchFamily="34" charset="0"/>
              </a:rPr>
              <a:t>Exploratory Data Analysis using Python </a:t>
            </a:r>
          </a:p>
        </p:txBody>
      </p:sp>
      <p:sp>
        <p:nvSpPr>
          <p:cNvPr id="6" name="TextBox 5">
            <a:extLst>
              <a:ext uri="{FF2B5EF4-FFF2-40B4-BE49-F238E27FC236}">
                <a16:creationId xmlns:a16="http://schemas.microsoft.com/office/drawing/2014/main" id="{B5F813CF-5794-395F-32CC-FD30C62E6273}"/>
              </a:ext>
            </a:extLst>
          </p:cNvPr>
          <p:cNvSpPr txBox="1"/>
          <p:nvPr/>
        </p:nvSpPr>
        <p:spPr>
          <a:xfrm>
            <a:off x="471948" y="1278195"/>
            <a:ext cx="8910773" cy="923330"/>
          </a:xfrm>
          <a:prstGeom prst="rect">
            <a:avLst/>
          </a:prstGeom>
          <a:noFill/>
        </p:spPr>
        <p:txBody>
          <a:bodyPr wrap="none" rtlCol="0">
            <a:spAutoFit/>
          </a:bodyPr>
          <a:lstStyle/>
          <a:p>
            <a:pPr marL="342900" indent="-342900">
              <a:buFont typeface="+mj-lt"/>
              <a:buAutoNum type="arabicPeriod"/>
            </a:pPr>
            <a:r>
              <a:rPr lang="en-IN" b="1" dirty="0"/>
              <a:t>Data Loading</a:t>
            </a:r>
            <a:r>
              <a:rPr lang="en-IN" dirty="0"/>
              <a:t>: Imported the dataset using pandas. </a:t>
            </a:r>
          </a:p>
          <a:p>
            <a:endParaRPr lang="en-IN" dirty="0"/>
          </a:p>
          <a:p>
            <a:pPr marL="342900" indent="-342900">
              <a:buFont typeface="+mj-lt"/>
              <a:buAutoNum type="arabicPeriod" startAt="2"/>
            </a:pPr>
            <a:r>
              <a:rPr lang="en-IN" b="1" dirty="0"/>
              <a:t>Initial Exploration</a:t>
            </a:r>
            <a:r>
              <a:rPr lang="en-IN" dirty="0"/>
              <a:t>: Used df.info() to check structure and .describe() for summary statistics</a:t>
            </a:r>
          </a:p>
        </p:txBody>
      </p:sp>
      <p:pic>
        <p:nvPicPr>
          <p:cNvPr id="13" name="Picture 12">
            <a:extLst>
              <a:ext uri="{FF2B5EF4-FFF2-40B4-BE49-F238E27FC236}">
                <a16:creationId xmlns:a16="http://schemas.microsoft.com/office/drawing/2014/main" id="{2A949FF9-E7B5-5CD1-4065-F54AE9E04900}"/>
              </a:ext>
            </a:extLst>
          </p:cNvPr>
          <p:cNvPicPr>
            <a:picLocks noChangeAspect="1"/>
          </p:cNvPicPr>
          <p:nvPr/>
        </p:nvPicPr>
        <p:blipFill>
          <a:blip r:embed="rId2"/>
          <a:stretch>
            <a:fillRect/>
          </a:stretch>
        </p:blipFill>
        <p:spPr>
          <a:xfrm>
            <a:off x="0" y="2833471"/>
            <a:ext cx="12192000" cy="3432812"/>
          </a:xfrm>
          <a:prstGeom prst="rect">
            <a:avLst/>
          </a:prstGeom>
          <a:ln>
            <a:solidFill>
              <a:schemeClr val="tx1"/>
            </a:solidFill>
          </a:ln>
        </p:spPr>
      </p:pic>
    </p:spTree>
    <p:extLst>
      <p:ext uri="{BB962C8B-B14F-4D97-AF65-F5344CB8AC3E}">
        <p14:creationId xmlns:p14="http://schemas.microsoft.com/office/powerpoint/2010/main" val="1558022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5FCB52-6F2D-DB3E-EE0E-0E11463C3A86}"/>
              </a:ext>
            </a:extLst>
          </p:cNvPr>
          <p:cNvSpPr txBox="1"/>
          <p:nvPr/>
        </p:nvSpPr>
        <p:spPr>
          <a:xfrm>
            <a:off x="235974" y="327117"/>
            <a:ext cx="8681884" cy="4801314"/>
          </a:xfrm>
          <a:prstGeom prst="rect">
            <a:avLst/>
          </a:prstGeom>
          <a:noFill/>
        </p:spPr>
        <p:txBody>
          <a:bodyPr wrap="square">
            <a:spAutoFit/>
          </a:bodyPr>
          <a:lstStyle/>
          <a:p>
            <a:r>
              <a:rPr lang="en-IN" b="1" dirty="0"/>
              <a:t>Missing Data Handling: </a:t>
            </a:r>
            <a:r>
              <a:rPr lang="en-IN" dirty="0"/>
              <a:t>Checked for null values and imputed missing values in the </a:t>
            </a:r>
            <a:r>
              <a:rPr lang="en-IN" dirty="0">
                <a:solidFill>
                  <a:schemeClr val="accent1"/>
                </a:solidFill>
              </a:rPr>
              <a:t>Review Rating</a:t>
            </a:r>
            <a:r>
              <a:rPr lang="en-IN" dirty="0"/>
              <a:t> column using the median rating of each product category. </a:t>
            </a:r>
          </a:p>
          <a:p>
            <a:endParaRPr lang="en-IN" dirty="0"/>
          </a:p>
          <a:p>
            <a:r>
              <a:rPr lang="en-IN" b="1" dirty="0"/>
              <a:t>Column Standardization: </a:t>
            </a:r>
            <a:r>
              <a:rPr lang="en-IN" dirty="0"/>
              <a:t>Renamed columns to snake case for better readability and documentation.</a:t>
            </a:r>
          </a:p>
          <a:p>
            <a:endParaRPr lang="en-IN" dirty="0"/>
          </a:p>
          <a:p>
            <a:r>
              <a:rPr lang="en-IN" b="1" dirty="0"/>
              <a:t>Feature Engineering: </a:t>
            </a:r>
          </a:p>
          <a:p>
            <a:r>
              <a:rPr lang="en-IN" dirty="0"/>
              <a:t>          </a:t>
            </a:r>
          </a:p>
          <a:p>
            <a:r>
              <a:rPr lang="en-IN" dirty="0"/>
              <a:t>      ○ Created </a:t>
            </a:r>
            <a:r>
              <a:rPr lang="en-IN" dirty="0">
                <a:solidFill>
                  <a:schemeClr val="accent1"/>
                </a:solidFill>
              </a:rPr>
              <a:t>age_group </a:t>
            </a:r>
            <a:r>
              <a:rPr lang="en-IN" dirty="0"/>
              <a:t>column by binning customer ages. </a:t>
            </a:r>
          </a:p>
          <a:p>
            <a:r>
              <a:rPr lang="en-IN" dirty="0"/>
              <a:t>      </a:t>
            </a:r>
          </a:p>
          <a:p>
            <a:r>
              <a:rPr lang="en-IN" dirty="0"/>
              <a:t>      ○ Created </a:t>
            </a:r>
            <a:r>
              <a:rPr lang="en-IN" dirty="0">
                <a:solidFill>
                  <a:schemeClr val="accent1"/>
                </a:solidFill>
              </a:rPr>
              <a:t>purchase_frequency_days </a:t>
            </a:r>
            <a:r>
              <a:rPr lang="en-IN" dirty="0"/>
              <a:t>column from purchase data. </a:t>
            </a:r>
          </a:p>
          <a:p>
            <a:endParaRPr lang="en-IN" dirty="0"/>
          </a:p>
          <a:p>
            <a:r>
              <a:rPr lang="en-IN" b="1" dirty="0"/>
              <a:t>Data Consistency Check: </a:t>
            </a:r>
            <a:r>
              <a:rPr lang="en-IN" dirty="0"/>
              <a:t>Verified if </a:t>
            </a:r>
            <a:r>
              <a:rPr lang="en-IN" dirty="0">
                <a:solidFill>
                  <a:schemeClr val="accent1"/>
                </a:solidFill>
              </a:rPr>
              <a:t>discount_applied</a:t>
            </a:r>
            <a:r>
              <a:rPr lang="en-IN" dirty="0"/>
              <a:t> and </a:t>
            </a:r>
            <a:r>
              <a:rPr lang="en-IN" dirty="0">
                <a:solidFill>
                  <a:schemeClr val="accent1"/>
                </a:solidFill>
              </a:rPr>
              <a:t>promo_code_used </a:t>
            </a:r>
            <a:r>
              <a:rPr lang="en-IN" dirty="0"/>
              <a:t>were redundant; dropped </a:t>
            </a:r>
            <a:r>
              <a:rPr lang="en-IN" dirty="0">
                <a:solidFill>
                  <a:schemeClr val="accent1"/>
                </a:solidFill>
              </a:rPr>
              <a:t>promo_code_used. </a:t>
            </a:r>
          </a:p>
          <a:p>
            <a:endParaRPr lang="en-IN" dirty="0"/>
          </a:p>
          <a:p>
            <a:r>
              <a:rPr lang="en-IN" b="1" dirty="0"/>
              <a:t>Database Integration: </a:t>
            </a:r>
            <a:r>
              <a:rPr lang="en-IN" dirty="0"/>
              <a:t>Connected Python script to PostgreSQL and loaded the cleaned DataFrame into the database for SQL analysis. </a:t>
            </a:r>
          </a:p>
        </p:txBody>
      </p:sp>
    </p:spTree>
    <p:extLst>
      <p:ext uri="{BB962C8B-B14F-4D97-AF65-F5344CB8AC3E}">
        <p14:creationId xmlns:p14="http://schemas.microsoft.com/office/powerpoint/2010/main" val="2280886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2774FD-2BA3-03A8-6989-5134FD584439}"/>
              </a:ext>
            </a:extLst>
          </p:cNvPr>
          <p:cNvPicPr>
            <a:picLocks noChangeAspect="1"/>
          </p:cNvPicPr>
          <p:nvPr/>
        </p:nvPicPr>
        <p:blipFill>
          <a:blip r:embed="rId2"/>
          <a:stretch>
            <a:fillRect/>
          </a:stretch>
        </p:blipFill>
        <p:spPr>
          <a:xfrm>
            <a:off x="80359" y="117988"/>
            <a:ext cx="5935153" cy="2930012"/>
          </a:xfrm>
          <a:prstGeom prst="rect">
            <a:avLst/>
          </a:prstGeom>
          <a:ln>
            <a:solidFill>
              <a:schemeClr val="tx1"/>
            </a:solidFill>
          </a:ln>
        </p:spPr>
      </p:pic>
      <p:pic>
        <p:nvPicPr>
          <p:cNvPr id="7" name="Picture 6">
            <a:extLst>
              <a:ext uri="{FF2B5EF4-FFF2-40B4-BE49-F238E27FC236}">
                <a16:creationId xmlns:a16="http://schemas.microsoft.com/office/drawing/2014/main" id="{92AB596E-F49B-EE73-F10F-26FB7D64897E}"/>
              </a:ext>
            </a:extLst>
          </p:cNvPr>
          <p:cNvPicPr>
            <a:picLocks noChangeAspect="1"/>
          </p:cNvPicPr>
          <p:nvPr/>
        </p:nvPicPr>
        <p:blipFill>
          <a:blip r:embed="rId3"/>
          <a:stretch>
            <a:fillRect/>
          </a:stretch>
        </p:blipFill>
        <p:spPr>
          <a:xfrm>
            <a:off x="2508761" y="3189192"/>
            <a:ext cx="7174477" cy="3550820"/>
          </a:xfrm>
          <a:prstGeom prst="rect">
            <a:avLst/>
          </a:prstGeom>
          <a:ln>
            <a:solidFill>
              <a:schemeClr val="tx1"/>
            </a:solidFill>
          </a:ln>
        </p:spPr>
      </p:pic>
      <p:pic>
        <p:nvPicPr>
          <p:cNvPr id="9" name="Picture 8">
            <a:extLst>
              <a:ext uri="{FF2B5EF4-FFF2-40B4-BE49-F238E27FC236}">
                <a16:creationId xmlns:a16="http://schemas.microsoft.com/office/drawing/2014/main" id="{13A3CF86-A7E9-2A5F-9207-B03513E192CD}"/>
              </a:ext>
            </a:extLst>
          </p:cNvPr>
          <p:cNvPicPr>
            <a:picLocks noChangeAspect="1"/>
          </p:cNvPicPr>
          <p:nvPr/>
        </p:nvPicPr>
        <p:blipFill>
          <a:blip r:embed="rId4"/>
          <a:stretch>
            <a:fillRect/>
          </a:stretch>
        </p:blipFill>
        <p:spPr>
          <a:xfrm>
            <a:off x="6115293" y="87778"/>
            <a:ext cx="5996348" cy="2960222"/>
          </a:xfrm>
          <a:prstGeom prst="rect">
            <a:avLst/>
          </a:prstGeom>
          <a:ln>
            <a:solidFill>
              <a:schemeClr val="tx1"/>
            </a:solidFill>
          </a:ln>
        </p:spPr>
      </p:pic>
    </p:spTree>
    <p:extLst>
      <p:ext uri="{BB962C8B-B14F-4D97-AF65-F5344CB8AC3E}">
        <p14:creationId xmlns:p14="http://schemas.microsoft.com/office/powerpoint/2010/main" val="3512228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BAC24E-B1F6-D7D4-0387-F21E472C2A64}"/>
              </a:ext>
            </a:extLst>
          </p:cNvPr>
          <p:cNvPicPr>
            <a:picLocks noChangeAspect="1"/>
          </p:cNvPicPr>
          <p:nvPr/>
        </p:nvPicPr>
        <p:blipFill>
          <a:blip r:embed="rId2"/>
          <a:stretch>
            <a:fillRect/>
          </a:stretch>
        </p:blipFill>
        <p:spPr>
          <a:xfrm>
            <a:off x="0" y="126283"/>
            <a:ext cx="6118248" cy="3020401"/>
          </a:xfrm>
          <a:prstGeom prst="rect">
            <a:avLst/>
          </a:prstGeom>
          <a:ln>
            <a:solidFill>
              <a:schemeClr val="tx1"/>
            </a:solidFill>
          </a:ln>
        </p:spPr>
      </p:pic>
      <p:pic>
        <p:nvPicPr>
          <p:cNvPr id="7" name="Picture 6">
            <a:extLst>
              <a:ext uri="{FF2B5EF4-FFF2-40B4-BE49-F238E27FC236}">
                <a16:creationId xmlns:a16="http://schemas.microsoft.com/office/drawing/2014/main" id="{B20493DE-D9F9-27DD-60FE-CEC539C29358}"/>
              </a:ext>
            </a:extLst>
          </p:cNvPr>
          <p:cNvPicPr>
            <a:picLocks noChangeAspect="1"/>
          </p:cNvPicPr>
          <p:nvPr/>
        </p:nvPicPr>
        <p:blipFill>
          <a:blip r:embed="rId3"/>
          <a:stretch>
            <a:fillRect/>
          </a:stretch>
        </p:blipFill>
        <p:spPr>
          <a:xfrm>
            <a:off x="6073754" y="126284"/>
            <a:ext cx="6118246" cy="3020400"/>
          </a:xfrm>
          <a:prstGeom prst="rect">
            <a:avLst/>
          </a:prstGeom>
          <a:ln>
            <a:solidFill>
              <a:schemeClr val="tx1"/>
            </a:solidFill>
          </a:ln>
        </p:spPr>
      </p:pic>
      <p:pic>
        <p:nvPicPr>
          <p:cNvPr id="9" name="Picture 8">
            <a:extLst>
              <a:ext uri="{FF2B5EF4-FFF2-40B4-BE49-F238E27FC236}">
                <a16:creationId xmlns:a16="http://schemas.microsoft.com/office/drawing/2014/main" id="{E4CE1F45-1323-5F12-EC92-2AE20ADDAF27}"/>
              </a:ext>
            </a:extLst>
          </p:cNvPr>
          <p:cNvPicPr>
            <a:picLocks noChangeAspect="1"/>
          </p:cNvPicPr>
          <p:nvPr/>
        </p:nvPicPr>
        <p:blipFill>
          <a:blip r:embed="rId4"/>
          <a:stretch>
            <a:fillRect/>
          </a:stretch>
        </p:blipFill>
        <p:spPr>
          <a:xfrm>
            <a:off x="2521177" y="3238554"/>
            <a:ext cx="7213805" cy="3570285"/>
          </a:xfrm>
          <a:prstGeom prst="rect">
            <a:avLst/>
          </a:prstGeom>
          <a:ln>
            <a:solidFill>
              <a:schemeClr val="tx1"/>
            </a:solidFill>
          </a:ln>
        </p:spPr>
      </p:pic>
    </p:spTree>
    <p:extLst>
      <p:ext uri="{BB962C8B-B14F-4D97-AF65-F5344CB8AC3E}">
        <p14:creationId xmlns:p14="http://schemas.microsoft.com/office/powerpoint/2010/main" val="4150463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359734-AA22-9402-7144-86F1CBFC0331}"/>
              </a:ext>
            </a:extLst>
          </p:cNvPr>
          <p:cNvPicPr>
            <a:picLocks noChangeAspect="1"/>
          </p:cNvPicPr>
          <p:nvPr/>
        </p:nvPicPr>
        <p:blipFill>
          <a:blip r:embed="rId2"/>
          <a:stretch>
            <a:fillRect/>
          </a:stretch>
        </p:blipFill>
        <p:spPr>
          <a:xfrm>
            <a:off x="131201" y="92224"/>
            <a:ext cx="5925472" cy="2925233"/>
          </a:xfrm>
          <a:prstGeom prst="rect">
            <a:avLst/>
          </a:prstGeom>
          <a:ln>
            <a:solidFill>
              <a:schemeClr val="tx1"/>
            </a:solidFill>
          </a:ln>
        </p:spPr>
      </p:pic>
      <p:pic>
        <p:nvPicPr>
          <p:cNvPr id="9" name="Picture 8">
            <a:extLst>
              <a:ext uri="{FF2B5EF4-FFF2-40B4-BE49-F238E27FC236}">
                <a16:creationId xmlns:a16="http://schemas.microsoft.com/office/drawing/2014/main" id="{02CF1D65-6379-6008-F4CC-464592056393}"/>
              </a:ext>
            </a:extLst>
          </p:cNvPr>
          <p:cNvPicPr>
            <a:picLocks noChangeAspect="1"/>
          </p:cNvPicPr>
          <p:nvPr/>
        </p:nvPicPr>
        <p:blipFill>
          <a:blip r:embed="rId3"/>
          <a:stretch>
            <a:fillRect/>
          </a:stretch>
        </p:blipFill>
        <p:spPr>
          <a:xfrm>
            <a:off x="2746580" y="3187880"/>
            <a:ext cx="7075847" cy="3493140"/>
          </a:xfrm>
          <a:prstGeom prst="rect">
            <a:avLst/>
          </a:prstGeom>
          <a:ln>
            <a:solidFill>
              <a:schemeClr val="tx1"/>
            </a:solidFill>
          </a:ln>
        </p:spPr>
      </p:pic>
      <p:pic>
        <p:nvPicPr>
          <p:cNvPr id="11" name="Picture 10">
            <a:extLst>
              <a:ext uri="{FF2B5EF4-FFF2-40B4-BE49-F238E27FC236}">
                <a16:creationId xmlns:a16="http://schemas.microsoft.com/office/drawing/2014/main" id="{60A5F369-7D08-CC56-6B87-F6836B7A31E0}"/>
              </a:ext>
            </a:extLst>
          </p:cNvPr>
          <p:cNvPicPr>
            <a:picLocks noChangeAspect="1"/>
          </p:cNvPicPr>
          <p:nvPr/>
        </p:nvPicPr>
        <p:blipFill>
          <a:blip r:embed="rId4"/>
          <a:stretch>
            <a:fillRect/>
          </a:stretch>
        </p:blipFill>
        <p:spPr>
          <a:xfrm>
            <a:off x="6168209" y="92224"/>
            <a:ext cx="5925471" cy="2925233"/>
          </a:xfrm>
          <a:prstGeom prst="rect">
            <a:avLst/>
          </a:prstGeom>
          <a:ln>
            <a:solidFill>
              <a:schemeClr val="tx1"/>
            </a:solidFill>
          </a:ln>
        </p:spPr>
      </p:pic>
    </p:spTree>
    <p:extLst>
      <p:ext uri="{BB962C8B-B14F-4D97-AF65-F5344CB8AC3E}">
        <p14:creationId xmlns:p14="http://schemas.microsoft.com/office/powerpoint/2010/main" val="4248641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CDAD2F-A487-C4F4-7D12-76E80E9236E6}"/>
              </a:ext>
            </a:extLst>
          </p:cNvPr>
          <p:cNvPicPr>
            <a:picLocks noChangeAspect="1"/>
          </p:cNvPicPr>
          <p:nvPr/>
        </p:nvPicPr>
        <p:blipFill>
          <a:blip r:embed="rId2"/>
          <a:stretch>
            <a:fillRect/>
          </a:stretch>
        </p:blipFill>
        <p:spPr>
          <a:xfrm>
            <a:off x="141032" y="0"/>
            <a:ext cx="6653059" cy="3284422"/>
          </a:xfrm>
          <a:prstGeom prst="rect">
            <a:avLst/>
          </a:prstGeom>
          <a:ln>
            <a:solidFill>
              <a:schemeClr val="tx1"/>
            </a:solidFill>
          </a:ln>
        </p:spPr>
      </p:pic>
      <p:pic>
        <p:nvPicPr>
          <p:cNvPr id="5" name="Picture 4">
            <a:extLst>
              <a:ext uri="{FF2B5EF4-FFF2-40B4-BE49-F238E27FC236}">
                <a16:creationId xmlns:a16="http://schemas.microsoft.com/office/drawing/2014/main" id="{3BC8A636-7B42-6CFD-91F4-9CC6198721C2}"/>
              </a:ext>
            </a:extLst>
          </p:cNvPr>
          <p:cNvPicPr>
            <a:picLocks noChangeAspect="1"/>
          </p:cNvPicPr>
          <p:nvPr/>
        </p:nvPicPr>
        <p:blipFill>
          <a:blip r:embed="rId3"/>
          <a:stretch>
            <a:fillRect/>
          </a:stretch>
        </p:blipFill>
        <p:spPr>
          <a:xfrm>
            <a:off x="5309416" y="3429000"/>
            <a:ext cx="6653061" cy="3284423"/>
          </a:xfrm>
          <a:prstGeom prst="rect">
            <a:avLst/>
          </a:prstGeom>
          <a:ln>
            <a:solidFill>
              <a:schemeClr val="tx1"/>
            </a:solidFill>
          </a:ln>
        </p:spPr>
      </p:pic>
    </p:spTree>
    <p:extLst>
      <p:ext uri="{BB962C8B-B14F-4D97-AF65-F5344CB8AC3E}">
        <p14:creationId xmlns:p14="http://schemas.microsoft.com/office/powerpoint/2010/main" val="1561349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CDF19-4EE6-1D70-4EF1-7F51E5FFF1B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E98F2E9-9733-89C6-DAD2-C5CBC5686B47}"/>
              </a:ext>
            </a:extLst>
          </p:cNvPr>
          <p:cNvSpPr txBox="1"/>
          <p:nvPr/>
        </p:nvSpPr>
        <p:spPr>
          <a:xfrm>
            <a:off x="2860094" y="76500"/>
            <a:ext cx="5323893" cy="584775"/>
          </a:xfrm>
          <a:prstGeom prst="rect">
            <a:avLst/>
          </a:prstGeom>
          <a:noFill/>
        </p:spPr>
        <p:txBody>
          <a:bodyPr wrap="none" rtlCol="0">
            <a:spAutoFit/>
          </a:bodyPr>
          <a:lstStyle/>
          <a:p>
            <a:r>
              <a:rPr lang="en-IN" sz="3200" dirty="0">
                <a:solidFill>
                  <a:srgbClr val="5C4E3D"/>
                </a:solidFill>
                <a:latin typeface="Libre Baskerville" pitchFamily="34" charset="0"/>
              </a:rPr>
              <a:t>Data Analysis using SQL</a:t>
            </a:r>
          </a:p>
        </p:txBody>
      </p:sp>
      <p:sp>
        <p:nvSpPr>
          <p:cNvPr id="3" name="TextBox 2">
            <a:extLst>
              <a:ext uri="{FF2B5EF4-FFF2-40B4-BE49-F238E27FC236}">
                <a16:creationId xmlns:a16="http://schemas.microsoft.com/office/drawing/2014/main" id="{AB465C2F-272E-CD13-7C98-DA1B3980C7CD}"/>
              </a:ext>
            </a:extLst>
          </p:cNvPr>
          <p:cNvSpPr txBox="1"/>
          <p:nvPr/>
        </p:nvSpPr>
        <p:spPr>
          <a:xfrm>
            <a:off x="403122" y="1004190"/>
            <a:ext cx="8976852" cy="3416320"/>
          </a:xfrm>
          <a:prstGeom prst="rect">
            <a:avLst/>
          </a:prstGeom>
          <a:noFill/>
        </p:spPr>
        <p:txBody>
          <a:bodyPr wrap="square">
            <a:spAutoFit/>
          </a:bodyPr>
          <a:lstStyle/>
          <a:p>
            <a:pPr marL="342900" indent="-342900">
              <a:buFont typeface="+mj-lt"/>
              <a:buAutoNum type="arabicPeriod"/>
            </a:pPr>
            <a:r>
              <a:rPr lang="en-IN" b="1" dirty="0"/>
              <a:t>Revenue by Gender </a:t>
            </a:r>
            <a:r>
              <a:rPr lang="en-IN" dirty="0"/>
              <a:t>– Compared total revenue generated by male vs. female customers.</a:t>
            </a:r>
          </a:p>
          <a:p>
            <a:pPr marL="342900" indent="-342900">
              <a:buFont typeface="+mj-lt"/>
              <a:buAutoNum type="arabicPeriod"/>
            </a:pPr>
            <a:endParaRPr lang="en-IN" dirty="0"/>
          </a:p>
          <a:p>
            <a:pPr marL="342900" indent="-342900">
              <a:buFont typeface="+mj-lt"/>
              <a:buAutoNum type="arabicPeriod"/>
            </a:pPr>
            <a:endParaRPr lang="en-IN" dirty="0"/>
          </a:p>
          <a:p>
            <a:pPr marL="342900" indent="-342900">
              <a:buFont typeface="+mj-lt"/>
              <a:buAutoNum type="arabicPeriod"/>
            </a:pPr>
            <a:endParaRPr lang="en-IN" dirty="0"/>
          </a:p>
          <a:p>
            <a:pPr marL="342900" indent="-342900">
              <a:buFont typeface="+mj-lt"/>
              <a:buAutoNum type="arabicPeriod"/>
            </a:pPr>
            <a:endParaRPr lang="en-IN" dirty="0"/>
          </a:p>
          <a:p>
            <a:pPr marL="342900" indent="-342900">
              <a:buFont typeface="+mj-lt"/>
              <a:buAutoNum type="arabicPeriod"/>
            </a:pPr>
            <a:endParaRPr lang="en-IN" dirty="0"/>
          </a:p>
          <a:p>
            <a:pPr marL="342900" indent="-342900">
              <a:buFont typeface="+mj-lt"/>
              <a:buAutoNum type="arabicPeriod"/>
            </a:pPr>
            <a:r>
              <a:rPr lang="en-IN" b="1" dirty="0"/>
              <a:t>High-Spending Discount Users </a:t>
            </a:r>
            <a:r>
              <a:rPr lang="en-IN" dirty="0"/>
              <a:t>– Identified customers who used discounts but still spent above the average purchase amount. </a:t>
            </a:r>
          </a:p>
          <a:p>
            <a:endParaRPr lang="en-IN" dirty="0"/>
          </a:p>
          <a:p>
            <a:pPr marL="342900" indent="-342900">
              <a:buFont typeface="+mj-lt"/>
              <a:buAutoNum type="arabicPeriod"/>
            </a:pPr>
            <a:endParaRPr lang="en-IN" dirty="0"/>
          </a:p>
          <a:p>
            <a:pPr marL="342900" indent="-342900">
              <a:buFont typeface="+mj-lt"/>
              <a:buAutoNum type="arabicPeriod"/>
            </a:pPr>
            <a:endParaRPr lang="en-IN" dirty="0"/>
          </a:p>
          <a:p>
            <a:r>
              <a:rPr lang="en-IN" dirty="0"/>
              <a:t> </a:t>
            </a:r>
          </a:p>
        </p:txBody>
      </p:sp>
      <p:pic>
        <p:nvPicPr>
          <p:cNvPr id="6" name="Picture 5">
            <a:extLst>
              <a:ext uri="{FF2B5EF4-FFF2-40B4-BE49-F238E27FC236}">
                <a16:creationId xmlns:a16="http://schemas.microsoft.com/office/drawing/2014/main" id="{F46866E3-45C3-F057-7292-DB2E6C3127C5}"/>
              </a:ext>
            </a:extLst>
          </p:cNvPr>
          <p:cNvPicPr>
            <a:picLocks noChangeAspect="1"/>
          </p:cNvPicPr>
          <p:nvPr/>
        </p:nvPicPr>
        <p:blipFill>
          <a:blip r:embed="rId2"/>
          <a:stretch>
            <a:fillRect/>
          </a:stretch>
        </p:blipFill>
        <p:spPr>
          <a:xfrm>
            <a:off x="1263828" y="1604354"/>
            <a:ext cx="1882495" cy="798634"/>
          </a:xfrm>
          <a:prstGeom prst="rect">
            <a:avLst/>
          </a:prstGeom>
          <a:ln>
            <a:solidFill>
              <a:schemeClr val="tx1"/>
            </a:solidFill>
          </a:ln>
        </p:spPr>
      </p:pic>
      <p:grpSp>
        <p:nvGrpSpPr>
          <p:cNvPr id="11" name="Group 10">
            <a:extLst>
              <a:ext uri="{FF2B5EF4-FFF2-40B4-BE49-F238E27FC236}">
                <a16:creationId xmlns:a16="http://schemas.microsoft.com/office/drawing/2014/main" id="{A9054476-2C5D-ABEA-8A5A-3081F3DDEEB5}"/>
              </a:ext>
            </a:extLst>
          </p:cNvPr>
          <p:cNvGrpSpPr/>
          <p:nvPr/>
        </p:nvGrpSpPr>
        <p:grpSpPr>
          <a:xfrm>
            <a:off x="967596" y="3330678"/>
            <a:ext cx="2488685" cy="3227438"/>
            <a:chOff x="967596" y="3330678"/>
            <a:chExt cx="2488685" cy="3227438"/>
          </a:xfrm>
        </p:grpSpPr>
        <p:pic>
          <p:nvPicPr>
            <p:cNvPr id="8" name="Picture 7">
              <a:extLst>
                <a:ext uri="{FF2B5EF4-FFF2-40B4-BE49-F238E27FC236}">
                  <a16:creationId xmlns:a16="http://schemas.microsoft.com/office/drawing/2014/main" id="{B5F1614B-DEB1-8B47-4CAC-246B8B63554A}"/>
                </a:ext>
              </a:extLst>
            </p:cNvPr>
            <p:cNvPicPr>
              <a:picLocks noChangeAspect="1"/>
            </p:cNvPicPr>
            <p:nvPr/>
          </p:nvPicPr>
          <p:blipFill>
            <a:blip r:embed="rId3"/>
            <a:stretch>
              <a:fillRect/>
            </a:stretch>
          </p:blipFill>
          <p:spPr>
            <a:xfrm>
              <a:off x="1120239" y="3330678"/>
              <a:ext cx="2183400" cy="2970210"/>
            </a:xfrm>
            <a:prstGeom prst="rect">
              <a:avLst/>
            </a:prstGeom>
            <a:ln>
              <a:solidFill>
                <a:schemeClr val="tx1"/>
              </a:solidFill>
            </a:ln>
          </p:spPr>
        </p:pic>
        <p:pic>
          <p:nvPicPr>
            <p:cNvPr id="10" name="Picture 9">
              <a:extLst>
                <a:ext uri="{FF2B5EF4-FFF2-40B4-BE49-F238E27FC236}">
                  <a16:creationId xmlns:a16="http://schemas.microsoft.com/office/drawing/2014/main" id="{18A52F21-04EC-E8EC-3719-374D7E6427FD}"/>
                </a:ext>
              </a:extLst>
            </p:cNvPr>
            <p:cNvPicPr>
              <a:picLocks noChangeAspect="1"/>
            </p:cNvPicPr>
            <p:nvPr/>
          </p:nvPicPr>
          <p:blipFill>
            <a:blip r:embed="rId4"/>
            <a:stretch>
              <a:fillRect/>
            </a:stretch>
          </p:blipFill>
          <p:spPr>
            <a:xfrm>
              <a:off x="967596" y="6300888"/>
              <a:ext cx="2488685" cy="257228"/>
            </a:xfrm>
            <a:prstGeom prst="rect">
              <a:avLst/>
            </a:prstGeom>
            <a:ln>
              <a:solidFill>
                <a:schemeClr val="tx1"/>
              </a:solidFill>
            </a:ln>
          </p:spPr>
        </p:pic>
      </p:grpSp>
    </p:spTree>
    <p:extLst>
      <p:ext uri="{BB962C8B-B14F-4D97-AF65-F5344CB8AC3E}">
        <p14:creationId xmlns:p14="http://schemas.microsoft.com/office/powerpoint/2010/main" val="1037626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6F0AF-B193-D458-DC2A-2BEFD7BBC5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F5D6CE-0C30-CE46-D8D4-C11DFA4DB4B0}"/>
              </a:ext>
            </a:extLst>
          </p:cNvPr>
          <p:cNvSpPr txBox="1"/>
          <p:nvPr/>
        </p:nvSpPr>
        <p:spPr>
          <a:xfrm>
            <a:off x="353959" y="237273"/>
            <a:ext cx="11651227" cy="6186309"/>
          </a:xfrm>
          <a:prstGeom prst="rect">
            <a:avLst/>
          </a:prstGeom>
          <a:noFill/>
        </p:spPr>
        <p:txBody>
          <a:bodyPr wrap="square">
            <a:spAutoFit/>
          </a:bodyPr>
          <a:lstStyle/>
          <a:p>
            <a:pPr marL="342900" indent="-342900">
              <a:buAutoNum type="arabicPeriod" startAt="3"/>
            </a:pPr>
            <a:r>
              <a:rPr lang="en-IN" b="1" dirty="0"/>
              <a:t>Top 5 Products by Rating </a:t>
            </a:r>
            <a:r>
              <a:rPr lang="en-IN" dirty="0"/>
              <a:t>– Found products with the highest average review ratings.</a:t>
            </a:r>
          </a:p>
          <a:p>
            <a:pPr marL="342900" indent="-342900">
              <a:buAutoNum type="arabicPeriod" startAt="3"/>
            </a:pPr>
            <a:endParaRPr lang="en-IN" dirty="0"/>
          </a:p>
          <a:p>
            <a:pPr marL="342900" indent="-342900">
              <a:buAutoNum type="arabicPeriod" startAt="3"/>
            </a:pPr>
            <a:endParaRPr lang="en-IN" dirty="0"/>
          </a:p>
          <a:p>
            <a:pPr marL="342900" indent="-342900">
              <a:buAutoNum type="arabicPeriod" startAt="3"/>
            </a:pPr>
            <a:endParaRPr lang="en-IN" dirty="0"/>
          </a:p>
          <a:p>
            <a:pPr marL="342900" indent="-342900">
              <a:buAutoNum type="arabicPeriod" startAt="3"/>
            </a:pPr>
            <a:endParaRPr lang="en-IN" dirty="0"/>
          </a:p>
          <a:p>
            <a:pPr marL="342900" indent="-342900">
              <a:buAutoNum type="arabicPeriod" startAt="3"/>
            </a:pPr>
            <a:endParaRPr lang="en-IN" dirty="0"/>
          </a:p>
          <a:p>
            <a:pPr marL="342900" indent="-342900">
              <a:buAutoNum type="arabicPeriod" startAt="3"/>
            </a:pPr>
            <a:endParaRPr lang="en-IN" dirty="0"/>
          </a:p>
          <a:p>
            <a:pPr marL="342900" indent="-342900">
              <a:buAutoNum type="arabicPeriod" startAt="3"/>
            </a:pPr>
            <a:endParaRPr lang="en-IN" dirty="0"/>
          </a:p>
          <a:p>
            <a:pPr marL="342900" indent="-342900">
              <a:buAutoNum type="arabicPeriod" startAt="3"/>
            </a:pPr>
            <a:endParaRPr lang="en-IN" dirty="0"/>
          </a:p>
          <a:p>
            <a:pPr marL="342900" indent="-342900">
              <a:buAutoNum type="arabicPeriod" startAt="3"/>
            </a:pPr>
            <a:endParaRPr lang="en-IN" dirty="0"/>
          </a:p>
          <a:p>
            <a:pPr marL="342900" indent="-342900">
              <a:buAutoNum type="arabicPeriod" startAt="3"/>
            </a:pPr>
            <a:r>
              <a:rPr lang="en-IN" b="1" dirty="0"/>
              <a:t>Shipping Type Comparison </a:t>
            </a:r>
            <a:r>
              <a:rPr lang="en-IN" dirty="0"/>
              <a:t>– Compared average purchase amounts between Standard and Express shipping.</a:t>
            </a:r>
          </a:p>
          <a:p>
            <a:pPr marL="342900" indent="-342900">
              <a:buAutoNum type="arabicPeriod" startAt="3"/>
            </a:pPr>
            <a:endParaRPr lang="en-IN" b="1" dirty="0"/>
          </a:p>
          <a:p>
            <a:pPr marL="342900" indent="-342900">
              <a:buAutoNum type="arabicPeriod" startAt="3"/>
            </a:pPr>
            <a:endParaRPr lang="en-IN" b="1" dirty="0"/>
          </a:p>
          <a:p>
            <a:pPr marL="342900" indent="-342900">
              <a:buAutoNum type="arabicPeriod" startAt="3"/>
            </a:pPr>
            <a:endParaRPr lang="en-IN" b="1" dirty="0"/>
          </a:p>
          <a:p>
            <a:pPr marL="342900" indent="-342900">
              <a:buAutoNum type="arabicPeriod" startAt="3"/>
            </a:pPr>
            <a:endParaRPr lang="en-IN" b="1" dirty="0"/>
          </a:p>
          <a:p>
            <a:pPr marL="342900" indent="-342900">
              <a:buAutoNum type="arabicPeriod" startAt="3"/>
            </a:pPr>
            <a:endParaRPr lang="en-IN" b="1" dirty="0"/>
          </a:p>
          <a:p>
            <a:pPr marL="342900" indent="-342900">
              <a:buAutoNum type="arabicPeriod" startAt="3"/>
            </a:pPr>
            <a:r>
              <a:rPr lang="en-IN" b="1" dirty="0"/>
              <a:t>Subscribers vs. Non-Subscribers </a:t>
            </a:r>
            <a:r>
              <a:rPr lang="en-IN" dirty="0"/>
              <a:t>– Compared average spend and total revenue across subscription status. </a:t>
            </a:r>
          </a:p>
          <a:p>
            <a:pPr marL="342900" indent="-342900">
              <a:buAutoNum type="arabicPeriod" startAt="3"/>
            </a:pPr>
            <a:endParaRPr lang="en-IN" dirty="0"/>
          </a:p>
          <a:p>
            <a:pPr marL="342900" indent="-342900">
              <a:buAutoNum type="arabicPeriod" startAt="3"/>
            </a:pPr>
            <a:endParaRPr lang="en-IN" dirty="0"/>
          </a:p>
          <a:p>
            <a:pPr marL="342900" indent="-342900">
              <a:buAutoNum type="arabicPeriod" startAt="3"/>
            </a:pPr>
            <a:endParaRPr lang="en-IN" dirty="0"/>
          </a:p>
          <a:p>
            <a:endParaRPr lang="en-IN" dirty="0"/>
          </a:p>
          <a:p>
            <a:r>
              <a:rPr lang="en-IN" dirty="0"/>
              <a:t> </a:t>
            </a:r>
          </a:p>
        </p:txBody>
      </p:sp>
      <p:pic>
        <p:nvPicPr>
          <p:cNvPr id="4" name="Picture 3">
            <a:extLst>
              <a:ext uri="{FF2B5EF4-FFF2-40B4-BE49-F238E27FC236}">
                <a16:creationId xmlns:a16="http://schemas.microsoft.com/office/drawing/2014/main" id="{4E48F809-F352-023B-EF4C-06F148788F82}"/>
              </a:ext>
            </a:extLst>
          </p:cNvPr>
          <p:cNvPicPr>
            <a:picLocks noChangeAspect="1"/>
          </p:cNvPicPr>
          <p:nvPr/>
        </p:nvPicPr>
        <p:blipFill>
          <a:blip r:embed="rId2"/>
          <a:stretch>
            <a:fillRect/>
          </a:stretch>
        </p:blipFill>
        <p:spPr>
          <a:xfrm>
            <a:off x="599207" y="716354"/>
            <a:ext cx="3894068" cy="2091513"/>
          </a:xfrm>
          <a:prstGeom prst="rect">
            <a:avLst/>
          </a:prstGeom>
          <a:ln>
            <a:solidFill>
              <a:schemeClr val="tx1"/>
            </a:solidFill>
          </a:ln>
        </p:spPr>
      </p:pic>
      <p:pic>
        <p:nvPicPr>
          <p:cNvPr id="9" name="Picture 8">
            <a:extLst>
              <a:ext uri="{FF2B5EF4-FFF2-40B4-BE49-F238E27FC236}">
                <a16:creationId xmlns:a16="http://schemas.microsoft.com/office/drawing/2014/main" id="{66BC81F4-593D-0E99-D197-ADA96B956731}"/>
              </a:ext>
            </a:extLst>
          </p:cNvPr>
          <p:cNvPicPr>
            <a:picLocks noChangeAspect="1"/>
          </p:cNvPicPr>
          <p:nvPr/>
        </p:nvPicPr>
        <p:blipFill>
          <a:blip r:embed="rId3"/>
          <a:stretch>
            <a:fillRect/>
          </a:stretch>
        </p:blipFill>
        <p:spPr>
          <a:xfrm>
            <a:off x="446222" y="3572510"/>
            <a:ext cx="4200039" cy="784007"/>
          </a:xfrm>
          <a:prstGeom prst="rect">
            <a:avLst/>
          </a:prstGeom>
          <a:ln>
            <a:solidFill>
              <a:schemeClr val="tx1"/>
            </a:solidFill>
          </a:ln>
        </p:spPr>
      </p:pic>
      <p:pic>
        <p:nvPicPr>
          <p:cNvPr id="17" name="Picture 16">
            <a:extLst>
              <a:ext uri="{FF2B5EF4-FFF2-40B4-BE49-F238E27FC236}">
                <a16:creationId xmlns:a16="http://schemas.microsoft.com/office/drawing/2014/main" id="{C00C7E7C-64A8-A2B5-5410-3451D43C9C4B}"/>
              </a:ext>
            </a:extLst>
          </p:cNvPr>
          <p:cNvPicPr>
            <a:picLocks noChangeAspect="1"/>
          </p:cNvPicPr>
          <p:nvPr/>
        </p:nvPicPr>
        <p:blipFill>
          <a:blip r:embed="rId4"/>
          <a:stretch>
            <a:fillRect/>
          </a:stretch>
        </p:blipFill>
        <p:spPr>
          <a:xfrm>
            <a:off x="446222" y="5249233"/>
            <a:ext cx="4422873" cy="656954"/>
          </a:xfrm>
          <a:prstGeom prst="rect">
            <a:avLst/>
          </a:prstGeom>
          <a:ln>
            <a:solidFill>
              <a:schemeClr val="tx1"/>
            </a:solidFill>
          </a:ln>
        </p:spPr>
      </p:pic>
    </p:spTree>
    <p:extLst>
      <p:ext uri="{BB962C8B-B14F-4D97-AF65-F5344CB8AC3E}">
        <p14:creationId xmlns:p14="http://schemas.microsoft.com/office/powerpoint/2010/main" val="2909397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780CC0-5F25-35A1-2B36-98A221700D42}"/>
              </a:ext>
            </a:extLst>
          </p:cNvPr>
          <p:cNvSpPr txBox="1"/>
          <p:nvPr/>
        </p:nvSpPr>
        <p:spPr>
          <a:xfrm>
            <a:off x="152399" y="134035"/>
            <a:ext cx="11469329" cy="6463308"/>
          </a:xfrm>
          <a:prstGeom prst="rect">
            <a:avLst/>
          </a:prstGeom>
          <a:noFill/>
        </p:spPr>
        <p:txBody>
          <a:bodyPr wrap="square">
            <a:spAutoFit/>
          </a:bodyPr>
          <a:lstStyle/>
          <a:p>
            <a:pPr marL="342900" indent="-342900">
              <a:buAutoNum type="arabicPeriod" startAt="6"/>
            </a:pPr>
            <a:r>
              <a:rPr lang="en-IN" b="1" dirty="0"/>
              <a:t>Discount-Dependent Products </a:t>
            </a:r>
            <a:r>
              <a:rPr lang="en-IN" dirty="0"/>
              <a:t>– Identified 5 products with the highest percentage of discounted purchases. </a:t>
            </a:r>
          </a:p>
          <a:p>
            <a:pPr marL="342900" indent="-342900">
              <a:buAutoNum type="arabicPeriod" startAt="6"/>
            </a:pPr>
            <a:endParaRPr lang="en-IN" b="1" dirty="0"/>
          </a:p>
          <a:p>
            <a:pPr marL="342900" indent="-342900">
              <a:buAutoNum type="arabicPeriod" startAt="6"/>
            </a:pPr>
            <a:endParaRPr lang="en-IN" b="1" dirty="0"/>
          </a:p>
          <a:p>
            <a:pPr marL="342900" indent="-342900">
              <a:buAutoNum type="arabicPeriod" startAt="6"/>
            </a:pPr>
            <a:endParaRPr lang="en-IN" b="1" dirty="0"/>
          </a:p>
          <a:p>
            <a:pPr marL="342900" indent="-342900">
              <a:buAutoNum type="arabicPeriod" startAt="6"/>
            </a:pPr>
            <a:endParaRPr lang="en-IN" b="1" dirty="0"/>
          </a:p>
          <a:p>
            <a:pPr marL="342900" indent="-342900">
              <a:buAutoNum type="arabicPeriod" startAt="6"/>
            </a:pPr>
            <a:endParaRPr lang="en-IN" b="1" dirty="0"/>
          </a:p>
          <a:p>
            <a:pPr marL="342900" indent="-342900">
              <a:buAutoNum type="arabicPeriod" startAt="6"/>
            </a:pPr>
            <a:endParaRPr lang="en-IN" b="1" dirty="0"/>
          </a:p>
          <a:p>
            <a:pPr marL="342900" indent="-342900">
              <a:buAutoNum type="arabicPeriod" startAt="6"/>
            </a:pPr>
            <a:r>
              <a:rPr lang="en-IN" b="1" dirty="0"/>
              <a:t>Customer Segmentation </a:t>
            </a:r>
            <a:r>
              <a:rPr lang="en-IN" dirty="0"/>
              <a:t>– Classified customers into New, Returning, and Loyal segments based on purchase history.</a:t>
            </a:r>
          </a:p>
          <a:p>
            <a:pPr marL="342900" indent="-342900">
              <a:buAutoNum type="arabicPeriod" startAt="6"/>
            </a:pPr>
            <a:endParaRPr lang="en-IN" b="1" dirty="0"/>
          </a:p>
          <a:p>
            <a:pPr marL="342900" indent="-342900">
              <a:buAutoNum type="arabicPeriod" startAt="6"/>
            </a:pPr>
            <a:endParaRPr lang="en-IN" b="1" dirty="0"/>
          </a:p>
          <a:p>
            <a:pPr marL="342900" indent="-342900">
              <a:buAutoNum type="arabicPeriod" startAt="6"/>
            </a:pPr>
            <a:endParaRPr lang="en-IN" b="1" dirty="0"/>
          </a:p>
          <a:p>
            <a:pPr marL="342900" indent="-342900">
              <a:buAutoNum type="arabicPeriod" startAt="6"/>
            </a:pPr>
            <a:endParaRPr lang="en-IN" b="1" dirty="0"/>
          </a:p>
          <a:p>
            <a:pPr marL="342900" indent="-342900">
              <a:buAutoNum type="arabicPeriod" startAt="6"/>
            </a:pPr>
            <a:endParaRPr lang="en-IN" b="1" dirty="0"/>
          </a:p>
          <a:p>
            <a:pPr marL="342900" indent="-342900">
              <a:buAutoNum type="arabicPeriod" startAt="6"/>
            </a:pPr>
            <a:r>
              <a:rPr lang="en-IN" b="1" dirty="0"/>
              <a:t>Top 3 Products per Category </a:t>
            </a:r>
            <a:r>
              <a:rPr lang="en-IN" dirty="0"/>
              <a:t>– Listed the most purchased products within each category.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pic>
        <p:nvPicPr>
          <p:cNvPr id="7" name="Picture 6">
            <a:extLst>
              <a:ext uri="{FF2B5EF4-FFF2-40B4-BE49-F238E27FC236}">
                <a16:creationId xmlns:a16="http://schemas.microsoft.com/office/drawing/2014/main" id="{09D63CC2-84C1-EC59-C316-4CD8BD8CAE47}"/>
              </a:ext>
            </a:extLst>
          </p:cNvPr>
          <p:cNvPicPr>
            <a:picLocks noChangeAspect="1"/>
          </p:cNvPicPr>
          <p:nvPr/>
        </p:nvPicPr>
        <p:blipFill>
          <a:blip r:embed="rId2"/>
          <a:stretch>
            <a:fillRect/>
          </a:stretch>
        </p:blipFill>
        <p:spPr>
          <a:xfrm>
            <a:off x="570272" y="538023"/>
            <a:ext cx="2369573" cy="1450343"/>
          </a:xfrm>
          <a:prstGeom prst="rect">
            <a:avLst/>
          </a:prstGeom>
          <a:ln>
            <a:solidFill>
              <a:schemeClr val="tx1"/>
            </a:solidFill>
          </a:ln>
        </p:spPr>
      </p:pic>
      <p:pic>
        <p:nvPicPr>
          <p:cNvPr id="9" name="Picture 8">
            <a:extLst>
              <a:ext uri="{FF2B5EF4-FFF2-40B4-BE49-F238E27FC236}">
                <a16:creationId xmlns:a16="http://schemas.microsoft.com/office/drawing/2014/main" id="{0ADF26E5-5E5D-D5A2-9038-DB9793E3D258}"/>
              </a:ext>
            </a:extLst>
          </p:cNvPr>
          <p:cNvPicPr>
            <a:picLocks noChangeAspect="1"/>
          </p:cNvPicPr>
          <p:nvPr/>
        </p:nvPicPr>
        <p:blipFill>
          <a:blip r:embed="rId3"/>
          <a:stretch>
            <a:fillRect/>
          </a:stretch>
        </p:blipFill>
        <p:spPr>
          <a:xfrm>
            <a:off x="570272" y="2512161"/>
            <a:ext cx="2585996" cy="960770"/>
          </a:xfrm>
          <a:prstGeom prst="rect">
            <a:avLst/>
          </a:prstGeom>
          <a:ln>
            <a:solidFill>
              <a:schemeClr val="tx1"/>
            </a:solidFill>
          </a:ln>
        </p:spPr>
      </p:pic>
      <p:pic>
        <p:nvPicPr>
          <p:cNvPr id="11" name="Picture 10">
            <a:extLst>
              <a:ext uri="{FF2B5EF4-FFF2-40B4-BE49-F238E27FC236}">
                <a16:creationId xmlns:a16="http://schemas.microsoft.com/office/drawing/2014/main" id="{5C306B23-6922-92AB-3CF8-6D7662CA8133}"/>
              </a:ext>
            </a:extLst>
          </p:cNvPr>
          <p:cNvPicPr>
            <a:picLocks noChangeAspect="1"/>
          </p:cNvPicPr>
          <p:nvPr/>
        </p:nvPicPr>
        <p:blipFill>
          <a:blip r:embed="rId4"/>
          <a:stretch>
            <a:fillRect/>
          </a:stretch>
        </p:blipFill>
        <p:spPr>
          <a:xfrm>
            <a:off x="570271" y="4093570"/>
            <a:ext cx="3421625" cy="2436341"/>
          </a:xfrm>
          <a:prstGeom prst="rect">
            <a:avLst/>
          </a:prstGeom>
          <a:ln>
            <a:solidFill>
              <a:schemeClr val="tx1"/>
            </a:solidFill>
          </a:ln>
        </p:spPr>
      </p:pic>
    </p:spTree>
    <p:extLst>
      <p:ext uri="{BB962C8B-B14F-4D97-AF65-F5344CB8AC3E}">
        <p14:creationId xmlns:p14="http://schemas.microsoft.com/office/powerpoint/2010/main" val="3507340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F76BE-8BE4-7605-9E35-B409D413398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3A370F5-CE14-1769-E06A-064D684A62C0}"/>
              </a:ext>
            </a:extLst>
          </p:cNvPr>
          <p:cNvSpPr txBox="1"/>
          <p:nvPr/>
        </p:nvSpPr>
        <p:spPr>
          <a:xfrm>
            <a:off x="152399" y="134035"/>
            <a:ext cx="11469329" cy="3970318"/>
          </a:xfrm>
          <a:prstGeom prst="rect">
            <a:avLst/>
          </a:prstGeom>
          <a:noFill/>
        </p:spPr>
        <p:txBody>
          <a:bodyPr wrap="square">
            <a:spAutoFit/>
          </a:bodyPr>
          <a:lstStyle/>
          <a:p>
            <a:pPr marL="342900" indent="-342900">
              <a:buFont typeface="+mj-lt"/>
              <a:buAutoNum type="arabicPeriod" startAt="9"/>
            </a:pPr>
            <a:r>
              <a:rPr lang="en-IN" dirty="0"/>
              <a:t> </a:t>
            </a:r>
            <a:r>
              <a:rPr lang="en-IN" b="1" dirty="0"/>
              <a:t>Repeat Buyers &amp; Subscriptions </a:t>
            </a:r>
            <a:r>
              <a:rPr lang="en-IN" dirty="0"/>
              <a:t>– Checked whether customers with &gt;5 purchases are more likely to subscribe.</a:t>
            </a:r>
          </a:p>
          <a:p>
            <a:pPr marL="342900" indent="-342900">
              <a:buFont typeface="+mj-lt"/>
              <a:buAutoNum type="arabicPeriod" startAt="9"/>
            </a:pPr>
            <a:endParaRPr lang="en-IN" b="1" dirty="0"/>
          </a:p>
          <a:p>
            <a:pPr marL="342900" indent="-342900">
              <a:buFont typeface="+mj-lt"/>
              <a:buAutoNum type="arabicPeriod" startAt="9"/>
            </a:pPr>
            <a:endParaRPr lang="en-IN" b="1" dirty="0"/>
          </a:p>
          <a:p>
            <a:pPr marL="342900" indent="-342900">
              <a:buFont typeface="+mj-lt"/>
              <a:buAutoNum type="arabicPeriod" startAt="9"/>
            </a:pPr>
            <a:endParaRPr lang="en-IN" b="1" dirty="0"/>
          </a:p>
          <a:p>
            <a:pPr marL="342900" indent="-342900">
              <a:buFont typeface="+mj-lt"/>
              <a:buAutoNum type="arabicPeriod" startAt="9"/>
            </a:pPr>
            <a:endParaRPr lang="en-IN" b="1" dirty="0"/>
          </a:p>
          <a:p>
            <a:pPr marL="342900" indent="-342900">
              <a:buFont typeface="+mj-lt"/>
              <a:buAutoNum type="arabicPeriod" startAt="9"/>
            </a:pPr>
            <a:r>
              <a:rPr lang="en-IN" b="1" dirty="0"/>
              <a:t>Revenue by Age Group </a:t>
            </a:r>
            <a:r>
              <a:rPr lang="en-IN" dirty="0"/>
              <a:t>– Calculated total revenue contribution of each age group. </a:t>
            </a:r>
          </a:p>
          <a:p>
            <a:pPr marL="342900" indent="-342900">
              <a:buAutoNum type="arabicPeriod" startAt="6"/>
            </a:pPr>
            <a:endParaRPr lang="en-IN" dirty="0"/>
          </a:p>
          <a:p>
            <a:pPr marL="342900" indent="-342900">
              <a:buAutoNum type="arabicPeriod" startAt="6"/>
            </a:pPr>
            <a:endParaRPr lang="en-IN" dirty="0"/>
          </a:p>
          <a:p>
            <a:pPr marL="342900" indent="-342900">
              <a:buAutoNum type="arabicPeriod" startAt="6"/>
            </a:pPr>
            <a:endParaRPr lang="en-IN" dirty="0"/>
          </a:p>
          <a:p>
            <a:pPr marL="342900" indent="-342900">
              <a:buAutoNum type="arabicPeriod" startAt="6"/>
            </a:pPr>
            <a:endParaRPr lang="en-IN" dirty="0"/>
          </a:p>
          <a:p>
            <a:pPr marL="342900" indent="-342900">
              <a:buAutoNum type="arabicPeriod" startAt="6"/>
            </a:pPr>
            <a:endParaRPr lang="en-IN" dirty="0"/>
          </a:p>
          <a:p>
            <a:pPr marL="342900" indent="-342900">
              <a:buAutoNum type="arabicPeriod" startAt="6"/>
            </a:pPr>
            <a:endParaRPr lang="en-IN" dirty="0"/>
          </a:p>
          <a:p>
            <a:pPr marL="342900" indent="-342900">
              <a:buAutoNum type="arabicPeriod" startAt="6"/>
            </a:pPr>
            <a:endParaRPr lang="en-IN" dirty="0"/>
          </a:p>
          <a:p>
            <a:pPr marL="342900" indent="-342900">
              <a:buAutoNum type="arabicPeriod" startAt="6"/>
            </a:pPr>
            <a:endParaRPr lang="en-IN" dirty="0"/>
          </a:p>
        </p:txBody>
      </p:sp>
      <p:pic>
        <p:nvPicPr>
          <p:cNvPr id="3" name="Picture 2">
            <a:extLst>
              <a:ext uri="{FF2B5EF4-FFF2-40B4-BE49-F238E27FC236}">
                <a16:creationId xmlns:a16="http://schemas.microsoft.com/office/drawing/2014/main" id="{B1A08B99-6326-9915-94BD-05EEB314B55F}"/>
              </a:ext>
            </a:extLst>
          </p:cNvPr>
          <p:cNvPicPr>
            <a:picLocks noChangeAspect="1"/>
          </p:cNvPicPr>
          <p:nvPr/>
        </p:nvPicPr>
        <p:blipFill>
          <a:blip r:embed="rId2"/>
          <a:stretch>
            <a:fillRect/>
          </a:stretch>
        </p:blipFill>
        <p:spPr>
          <a:xfrm>
            <a:off x="327210" y="555284"/>
            <a:ext cx="2538293" cy="801567"/>
          </a:xfrm>
          <a:prstGeom prst="rect">
            <a:avLst/>
          </a:prstGeom>
          <a:ln>
            <a:solidFill>
              <a:schemeClr val="tx1"/>
            </a:solidFill>
          </a:ln>
        </p:spPr>
      </p:pic>
      <p:pic>
        <p:nvPicPr>
          <p:cNvPr id="6" name="Picture 5">
            <a:extLst>
              <a:ext uri="{FF2B5EF4-FFF2-40B4-BE49-F238E27FC236}">
                <a16:creationId xmlns:a16="http://schemas.microsoft.com/office/drawing/2014/main" id="{49FD46A6-A069-2D91-B3A3-8920AA227044}"/>
              </a:ext>
            </a:extLst>
          </p:cNvPr>
          <p:cNvPicPr>
            <a:picLocks noChangeAspect="1"/>
          </p:cNvPicPr>
          <p:nvPr/>
        </p:nvPicPr>
        <p:blipFill>
          <a:blip r:embed="rId3"/>
          <a:stretch>
            <a:fillRect/>
          </a:stretch>
        </p:blipFill>
        <p:spPr>
          <a:xfrm>
            <a:off x="327210" y="1911475"/>
            <a:ext cx="2288171" cy="1331920"/>
          </a:xfrm>
          <a:prstGeom prst="rect">
            <a:avLst/>
          </a:prstGeom>
          <a:ln>
            <a:solidFill>
              <a:schemeClr val="tx1"/>
            </a:solidFill>
          </a:ln>
        </p:spPr>
      </p:pic>
    </p:spTree>
    <p:extLst>
      <p:ext uri="{BB962C8B-B14F-4D97-AF65-F5344CB8AC3E}">
        <p14:creationId xmlns:p14="http://schemas.microsoft.com/office/powerpoint/2010/main" val="1591569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D402031-DC7A-E641-6393-68CC733FA6F2}"/>
              </a:ext>
            </a:extLst>
          </p:cNvPr>
          <p:cNvSpPr/>
          <p:nvPr/>
        </p:nvSpPr>
        <p:spPr>
          <a:xfrm>
            <a:off x="164526" y="104771"/>
            <a:ext cx="8242697" cy="708779"/>
          </a:xfrm>
          <a:prstGeom prst="rect">
            <a:avLst/>
          </a:prstGeom>
          <a:noFill/>
          <a:ln/>
        </p:spPr>
        <p:txBody>
          <a:bodyPr wrap="none" lIns="0" tIns="0" rIns="0" bIns="0" rtlCol="0" anchor="t"/>
          <a:lstStyle/>
          <a:p>
            <a:pPr marL="0" indent="0" algn="l">
              <a:lnSpc>
                <a:spcPts val="5550"/>
              </a:lnSpc>
              <a:buNone/>
            </a:pPr>
            <a:r>
              <a:rPr lang="en-US" sz="4000" dirty="0">
                <a:solidFill>
                  <a:srgbClr val="5C4E3D"/>
                </a:solidFill>
                <a:latin typeface="Libre Baskerville" pitchFamily="34" charset="0"/>
                <a:ea typeface="Libre Baskerville" pitchFamily="34" charset="-122"/>
                <a:cs typeface="Libre Baskerville" pitchFamily="34" charset="-120"/>
              </a:rPr>
              <a:t>Revenue by Gender Analysis</a:t>
            </a:r>
            <a:endParaRPr lang="en-US" sz="4000" dirty="0"/>
          </a:p>
        </p:txBody>
      </p:sp>
      <p:pic>
        <p:nvPicPr>
          <p:cNvPr id="5" name="Image 0" descr="preencoded.png">
            <a:extLst>
              <a:ext uri="{FF2B5EF4-FFF2-40B4-BE49-F238E27FC236}">
                <a16:creationId xmlns:a16="http://schemas.microsoft.com/office/drawing/2014/main" id="{BCFC3D44-7970-BD32-5838-26F814DC0647}"/>
              </a:ext>
            </a:extLst>
          </p:cNvPr>
          <p:cNvPicPr>
            <a:picLocks noChangeAspect="1"/>
          </p:cNvPicPr>
          <p:nvPr/>
        </p:nvPicPr>
        <p:blipFill>
          <a:blip r:embed="rId2"/>
          <a:stretch>
            <a:fillRect/>
          </a:stretch>
        </p:blipFill>
        <p:spPr>
          <a:xfrm>
            <a:off x="97387" y="1190748"/>
            <a:ext cx="6060584" cy="3188857"/>
          </a:xfrm>
          <a:prstGeom prst="rect">
            <a:avLst/>
          </a:prstGeom>
        </p:spPr>
      </p:pic>
      <p:sp>
        <p:nvSpPr>
          <p:cNvPr id="7" name="Shape 1">
            <a:extLst>
              <a:ext uri="{FF2B5EF4-FFF2-40B4-BE49-F238E27FC236}">
                <a16:creationId xmlns:a16="http://schemas.microsoft.com/office/drawing/2014/main" id="{33508EBE-FBAC-7BA5-24A9-E9907B061ADA}"/>
              </a:ext>
            </a:extLst>
          </p:cNvPr>
          <p:cNvSpPr/>
          <p:nvPr/>
        </p:nvSpPr>
        <p:spPr>
          <a:xfrm>
            <a:off x="2244060" y="4643396"/>
            <a:ext cx="226814" cy="226814"/>
          </a:xfrm>
          <a:prstGeom prst="roundRect">
            <a:avLst>
              <a:gd name="adj" fmla="val 8063"/>
            </a:avLst>
          </a:prstGeom>
          <a:solidFill>
            <a:srgbClr val="40320C"/>
          </a:solidFill>
          <a:ln/>
        </p:spPr>
        <p:txBody>
          <a:bodyPr/>
          <a:lstStyle/>
          <a:p>
            <a:endParaRPr lang="en-IN"/>
          </a:p>
        </p:txBody>
      </p:sp>
      <p:sp>
        <p:nvSpPr>
          <p:cNvPr id="9" name="Text 2">
            <a:extLst>
              <a:ext uri="{FF2B5EF4-FFF2-40B4-BE49-F238E27FC236}">
                <a16:creationId xmlns:a16="http://schemas.microsoft.com/office/drawing/2014/main" id="{5C7DBFE2-2C35-5600-B7F2-5CAA8262B33F}"/>
              </a:ext>
            </a:extLst>
          </p:cNvPr>
          <p:cNvSpPr/>
          <p:nvPr/>
        </p:nvSpPr>
        <p:spPr>
          <a:xfrm>
            <a:off x="2531834" y="4643396"/>
            <a:ext cx="493395" cy="226814"/>
          </a:xfrm>
          <a:prstGeom prst="rect">
            <a:avLst/>
          </a:prstGeom>
          <a:noFill/>
          <a:ln/>
        </p:spPr>
        <p:txBody>
          <a:bodyPr wrap="none" lIns="0" tIns="0" rIns="0" bIns="0" rtlCol="0" anchor="t"/>
          <a:lstStyle/>
          <a:p>
            <a:pPr marL="0" indent="0" algn="l">
              <a:lnSpc>
                <a:spcPts val="1750"/>
              </a:lnSpc>
              <a:buNone/>
            </a:pPr>
            <a:r>
              <a:rPr lang="en-US" sz="1750" dirty="0">
                <a:solidFill>
                  <a:srgbClr val="454240"/>
                </a:solidFill>
                <a:latin typeface="DM Sans" pitchFamily="34" charset="0"/>
                <a:ea typeface="DM Sans" pitchFamily="34" charset="-122"/>
                <a:cs typeface="DM Sans" pitchFamily="34" charset="-120"/>
              </a:rPr>
              <a:t>Male</a:t>
            </a:r>
            <a:endParaRPr lang="en-US" sz="1750" dirty="0"/>
          </a:p>
        </p:txBody>
      </p:sp>
      <p:sp>
        <p:nvSpPr>
          <p:cNvPr id="11" name="Shape 3">
            <a:extLst>
              <a:ext uri="{FF2B5EF4-FFF2-40B4-BE49-F238E27FC236}">
                <a16:creationId xmlns:a16="http://schemas.microsoft.com/office/drawing/2014/main" id="{E0F6F2BA-B23E-F0B9-0014-F73E95C4156E}"/>
              </a:ext>
            </a:extLst>
          </p:cNvPr>
          <p:cNvSpPr/>
          <p:nvPr/>
        </p:nvSpPr>
        <p:spPr>
          <a:xfrm>
            <a:off x="3177629" y="4643396"/>
            <a:ext cx="226814" cy="226814"/>
          </a:xfrm>
          <a:prstGeom prst="roundRect">
            <a:avLst>
              <a:gd name="adj" fmla="val 8063"/>
            </a:avLst>
          </a:prstGeom>
          <a:solidFill>
            <a:srgbClr val="CC9D27"/>
          </a:solidFill>
          <a:ln/>
        </p:spPr>
        <p:txBody>
          <a:bodyPr/>
          <a:lstStyle/>
          <a:p>
            <a:endParaRPr lang="en-IN"/>
          </a:p>
        </p:txBody>
      </p:sp>
      <p:sp>
        <p:nvSpPr>
          <p:cNvPr id="13" name="Text 4">
            <a:extLst>
              <a:ext uri="{FF2B5EF4-FFF2-40B4-BE49-F238E27FC236}">
                <a16:creationId xmlns:a16="http://schemas.microsoft.com/office/drawing/2014/main" id="{81A0E95B-863E-1D28-79F2-D4BFD3B0C756}"/>
              </a:ext>
            </a:extLst>
          </p:cNvPr>
          <p:cNvSpPr/>
          <p:nvPr/>
        </p:nvSpPr>
        <p:spPr>
          <a:xfrm>
            <a:off x="3465403" y="4643396"/>
            <a:ext cx="749975" cy="226814"/>
          </a:xfrm>
          <a:prstGeom prst="rect">
            <a:avLst/>
          </a:prstGeom>
          <a:noFill/>
          <a:ln/>
        </p:spPr>
        <p:txBody>
          <a:bodyPr wrap="none" lIns="0" tIns="0" rIns="0" bIns="0" rtlCol="0" anchor="t"/>
          <a:lstStyle/>
          <a:p>
            <a:pPr marL="0" indent="0" algn="l">
              <a:lnSpc>
                <a:spcPts val="1750"/>
              </a:lnSpc>
              <a:buNone/>
            </a:pPr>
            <a:r>
              <a:rPr lang="en-US" sz="1750" dirty="0">
                <a:solidFill>
                  <a:srgbClr val="454240"/>
                </a:solidFill>
                <a:latin typeface="DM Sans" pitchFamily="34" charset="0"/>
                <a:ea typeface="DM Sans" pitchFamily="34" charset="-122"/>
                <a:cs typeface="DM Sans" pitchFamily="34" charset="-120"/>
              </a:rPr>
              <a:t>Female</a:t>
            </a:r>
            <a:endParaRPr lang="en-US" sz="1750" dirty="0"/>
          </a:p>
        </p:txBody>
      </p:sp>
      <p:sp>
        <p:nvSpPr>
          <p:cNvPr id="15" name="Text 5">
            <a:extLst>
              <a:ext uri="{FF2B5EF4-FFF2-40B4-BE49-F238E27FC236}">
                <a16:creationId xmlns:a16="http://schemas.microsoft.com/office/drawing/2014/main" id="{25480BF4-B8E2-764A-6662-9F98A4FD7781}"/>
              </a:ext>
            </a:extLst>
          </p:cNvPr>
          <p:cNvSpPr/>
          <p:nvPr/>
        </p:nvSpPr>
        <p:spPr>
          <a:xfrm>
            <a:off x="6864826" y="141985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Key Insight</a:t>
            </a:r>
            <a:endParaRPr lang="en-US" sz="2200" dirty="0"/>
          </a:p>
        </p:txBody>
      </p:sp>
      <p:sp>
        <p:nvSpPr>
          <p:cNvPr id="17" name="Text 6">
            <a:extLst>
              <a:ext uri="{FF2B5EF4-FFF2-40B4-BE49-F238E27FC236}">
                <a16:creationId xmlns:a16="http://schemas.microsoft.com/office/drawing/2014/main" id="{B963E2D5-778D-6513-CA69-765A8E73D78A}"/>
              </a:ext>
            </a:extLst>
          </p:cNvPr>
          <p:cNvSpPr/>
          <p:nvPr/>
        </p:nvSpPr>
        <p:spPr>
          <a:xfrm>
            <a:off x="6864826" y="2000999"/>
            <a:ext cx="4885015" cy="725805"/>
          </a:xfrm>
          <a:prstGeom prst="rect">
            <a:avLst/>
          </a:prstGeom>
          <a:noFill/>
          <a:ln/>
        </p:spPr>
        <p:txBody>
          <a:bodyPr wrap="squar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Female customers generate slightly higher total revenue than male customers</a:t>
            </a:r>
            <a:endParaRPr lang="en-US" sz="1750" dirty="0"/>
          </a:p>
        </p:txBody>
      </p:sp>
      <p:sp>
        <p:nvSpPr>
          <p:cNvPr id="19" name="Shape 7">
            <a:extLst>
              <a:ext uri="{FF2B5EF4-FFF2-40B4-BE49-F238E27FC236}">
                <a16:creationId xmlns:a16="http://schemas.microsoft.com/office/drawing/2014/main" id="{B0588771-D1BB-E87A-14E4-D169541DD3C5}"/>
              </a:ext>
            </a:extLst>
          </p:cNvPr>
          <p:cNvSpPr/>
          <p:nvPr/>
        </p:nvSpPr>
        <p:spPr>
          <a:xfrm>
            <a:off x="6864826" y="2981955"/>
            <a:ext cx="4885015" cy="1326713"/>
          </a:xfrm>
          <a:prstGeom prst="roundRect">
            <a:avLst>
              <a:gd name="adj" fmla="val 7181"/>
            </a:avLst>
          </a:prstGeom>
          <a:solidFill>
            <a:srgbClr val="F3E4BF"/>
          </a:solidFill>
          <a:ln/>
        </p:spPr>
        <p:txBody>
          <a:bodyPr/>
          <a:lstStyle/>
          <a:p>
            <a:endParaRPr lang="en-IN"/>
          </a:p>
        </p:txBody>
      </p:sp>
      <p:pic>
        <p:nvPicPr>
          <p:cNvPr id="21" name="Image 1" descr="preencoded.png">
            <a:extLst>
              <a:ext uri="{FF2B5EF4-FFF2-40B4-BE49-F238E27FC236}">
                <a16:creationId xmlns:a16="http://schemas.microsoft.com/office/drawing/2014/main" id="{2B1B4D7C-D104-AEAA-A5EA-C7469EA25F8E}"/>
              </a:ext>
            </a:extLst>
          </p:cNvPr>
          <p:cNvPicPr>
            <a:picLocks noChangeAspect="1"/>
          </p:cNvPicPr>
          <p:nvPr/>
        </p:nvPicPr>
        <p:blipFill>
          <a:blip r:embed="rId3"/>
          <a:stretch>
            <a:fillRect/>
          </a:stretch>
        </p:blipFill>
        <p:spPr>
          <a:xfrm>
            <a:off x="7091640" y="3326045"/>
            <a:ext cx="283488" cy="226814"/>
          </a:xfrm>
          <a:prstGeom prst="rect">
            <a:avLst/>
          </a:prstGeom>
        </p:spPr>
      </p:pic>
      <p:sp>
        <p:nvSpPr>
          <p:cNvPr id="23" name="Text 8">
            <a:extLst>
              <a:ext uri="{FF2B5EF4-FFF2-40B4-BE49-F238E27FC236}">
                <a16:creationId xmlns:a16="http://schemas.microsoft.com/office/drawing/2014/main" id="{0985FE15-B479-BA69-CCCE-AD3C8CFC5066}"/>
              </a:ext>
            </a:extLst>
          </p:cNvPr>
          <p:cNvSpPr/>
          <p:nvPr/>
        </p:nvSpPr>
        <p:spPr>
          <a:xfrm>
            <a:off x="7601942" y="3265443"/>
            <a:ext cx="3921085"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Gender-based marketing strategies could optimize revenue streams</a:t>
            </a:r>
            <a:endParaRPr lang="en-US" sz="1750" dirty="0"/>
          </a:p>
        </p:txBody>
      </p:sp>
    </p:spTree>
    <p:extLst>
      <p:ext uri="{BB962C8B-B14F-4D97-AF65-F5344CB8AC3E}">
        <p14:creationId xmlns:p14="http://schemas.microsoft.com/office/powerpoint/2010/main" val="148249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C9458365-BA99-B30B-0A89-49F32A284777}"/>
              </a:ext>
            </a:extLst>
          </p:cNvPr>
          <p:cNvPicPr>
            <a:picLocks noChangeAspect="1"/>
          </p:cNvPicPr>
          <p:nvPr/>
        </p:nvPicPr>
        <p:blipFill>
          <a:blip r:embed="rId2"/>
          <a:stretch>
            <a:fillRect/>
          </a:stretch>
        </p:blipFill>
        <p:spPr>
          <a:xfrm>
            <a:off x="123964" y="90514"/>
            <a:ext cx="4451314" cy="6676971"/>
          </a:xfrm>
          <a:prstGeom prst="rect">
            <a:avLst/>
          </a:prstGeom>
        </p:spPr>
      </p:pic>
      <p:sp>
        <p:nvSpPr>
          <p:cNvPr id="5" name="Text 0">
            <a:extLst>
              <a:ext uri="{FF2B5EF4-FFF2-40B4-BE49-F238E27FC236}">
                <a16:creationId xmlns:a16="http://schemas.microsoft.com/office/drawing/2014/main" id="{FAD74801-AD2A-AA87-44AA-3785457327DC}"/>
              </a:ext>
            </a:extLst>
          </p:cNvPr>
          <p:cNvSpPr/>
          <p:nvPr/>
        </p:nvSpPr>
        <p:spPr>
          <a:xfrm>
            <a:off x="5309419" y="472862"/>
            <a:ext cx="6581636" cy="1506618"/>
          </a:xfrm>
          <a:prstGeom prst="rect">
            <a:avLst/>
          </a:prstGeom>
          <a:noFill/>
          <a:ln/>
        </p:spPr>
        <p:txBody>
          <a:bodyPr wrap="square" lIns="0" tIns="0" rIns="0" bIns="0" rtlCol="0" anchor="t"/>
          <a:lstStyle/>
          <a:p>
            <a:pPr marL="0" indent="0" algn="l">
              <a:lnSpc>
                <a:spcPts val="5550"/>
              </a:lnSpc>
              <a:buNone/>
            </a:pPr>
            <a:r>
              <a:rPr lang="en-US" sz="4000" dirty="0">
                <a:solidFill>
                  <a:srgbClr val="5C4E3D"/>
                </a:solidFill>
                <a:latin typeface="Libre Baskerville" pitchFamily="34" charset="0"/>
                <a:ea typeface="Libre Baskerville" pitchFamily="34" charset="-122"/>
                <a:cs typeface="Libre Baskerville" pitchFamily="34" charset="-120"/>
              </a:rPr>
              <a:t>High-Value Discount Users</a:t>
            </a:r>
            <a:endParaRPr lang="en-US" sz="4000" dirty="0"/>
          </a:p>
        </p:txBody>
      </p:sp>
      <p:sp>
        <p:nvSpPr>
          <p:cNvPr id="7" name="Text 1">
            <a:extLst>
              <a:ext uri="{FF2B5EF4-FFF2-40B4-BE49-F238E27FC236}">
                <a16:creationId xmlns:a16="http://schemas.microsoft.com/office/drawing/2014/main" id="{DD9E42BB-F728-6994-B66C-D6F0614A71CB}"/>
              </a:ext>
            </a:extLst>
          </p:cNvPr>
          <p:cNvSpPr/>
          <p:nvPr/>
        </p:nvSpPr>
        <p:spPr>
          <a:xfrm>
            <a:off x="5309419" y="2185763"/>
            <a:ext cx="6491914" cy="406196"/>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Customers using discounts while spending above average</a:t>
            </a:r>
            <a:endParaRPr lang="en-US" sz="1750" dirty="0"/>
          </a:p>
        </p:txBody>
      </p:sp>
      <p:sp>
        <p:nvSpPr>
          <p:cNvPr id="9" name="Shape 2">
            <a:extLst>
              <a:ext uri="{FF2B5EF4-FFF2-40B4-BE49-F238E27FC236}">
                <a16:creationId xmlns:a16="http://schemas.microsoft.com/office/drawing/2014/main" id="{41C2ED11-FE6E-4035-E649-2732DA12F4C6}"/>
              </a:ext>
            </a:extLst>
          </p:cNvPr>
          <p:cNvSpPr/>
          <p:nvPr/>
        </p:nvSpPr>
        <p:spPr>
          <a:xfrm>
            <a:off x="5107147" y="3543580"/>
            <a:ext cx="6491914" cy="723062"/>
          </a:xfrm>
          <a:prstGeom prst="roundRect">
            <a:avLst>
              <a:gd name="adj" fmla="val 7205"/>
            </a:avLst>
          </a:prstGeom>
          <a:solidFill>
            <a:srgbClr val="F7EDD4"/>
          </a:solidFill>
          <a:ln w="7620">
            <a:solidFill>
              <a:srgbClr val="DDD3BA"/>
            </a:solidFill>
            <a:prstDash val="solid"/>
          </a:ln>
        </p:spPr>
        <p:txBody>
          <a:bodyPr/>
          <a:lstStyle/>
          <a:p>
            <a:endParaRPr lang="en-IN"/>
          </a:p>
        </p:txBody>
      </p:sp>
      <p:sp>
        <p:nvSpPr>
          <p:cNvPr id="11" name="Text 3">
            <a:extLst>
              <a:ext uri="{FF2B5EF4-FFF2-40B4-BE49-F238E27FC236}">
                <a16:creationId xmlns:a16="http://schemas.microsoft.com/office/drawing/2014/main" id="{8BDF8042-3F3D-BFCA-17B2-A19C28CB479A}"/>
              </a:ext>
            </a:extLst>
          </p:cNvPr>
          <p:cNvSpPr/>
          <p:nvPr/>
        </p:nvSpPr>
        <p:spPr>
          <a:xfrm>
            <a:off x="5055740" y="3043692"/>
            <a:ext cx="2435822" cy="193771"/>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Smart Shoppers</a:t>
            </a:r>
            <a:endParaRPr lang="en-US" sz="2200" dirty="0"/>
          </a:p>
        </p:txBody>
      </p:sp>
      <p:sp>
        <p:nvSpPr>
          <p:cNvPr id="13" name="Text 4">
            <a:extLst>
              <a:ext uri="{FF2B5EF4-FFF2-40B4-BE49-F238E27FC236}">
                <a16:creationId xmlns:a16="http://schemas.microsoft.com/office/drawing/2014/main" id="{E42FCFDD-EB64-FC03-9EFF-525A02FC5F4A}"/>
              </a:ext>
            </a:extLst>
          </p:cNvPr>
          <p:cNvSpPr/>
          <p:nvPr/>
        </p:nvSpPr>
        <p:spPr>
          <a:xfrm>
            <a:off x="5236808" y="3669259"/>
            <a:ext cx="5573657" cy="519825"/>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High spenders who maximize value with discounts</a:t>
            </a:r>
            <a:endParaRPr lang="en-US" sz="1750" dirty="0"/>
          </a:p>
        </p:txBody>
      </p:sp>
      <p:sp>
        <p:nvSpPr>
          <p:cNvPr id="15" name="Shape 5">
            <a:extLst>
              <a:ext uri="{FF2B5EF4-FFF2-40B4-BE49-F238E27FC236}">
                <a16:creationId xmlns:a16="http://schemas.microsoft.com/office/drawing/2014/main" id="{44DE0E6B-4161-CFC2-6C31-138749F5E41D}"/>
              </a:ext>
            </a:extLst>
          </p:cNvPr>
          <p:cNvSpPr/>
          <p:nvPr/>
        </p:nvSpPr>
        <p:spPr>
          <a:xfrm>
            <a:off x="5107147" y="5086999"/>
            <a:ext cx="6491914" cy="723062"/>
          </a:xfrm>
          <a:prstGeom prst="roundRect">
            <a:avLst>
              <a:gd name="adj" fmla="val 7205"/>
            </a:avLst>
          </a:prstGeom>
          <a:solidFill>
            <a:srgbClr val="F7EDD4"/>
          </a:solidFill>
          <a:ln w="7620">
            <a:solidFill>
              <a:srgbClr val="DDD3BA"/>
            </a:solidFill>
            <a:prstDash val="solid"/>
          </a:ln>
        </p:spPr>
        <p:txBody>
          <a:bodyPr/>
          <a:lstStyle/>
          <a:p>
            <a:endParaRPr lang="en-IN"/>
          </a:p>
        </p:txBody>
      </p:sp>
      <p:sp>
        <p:nvSpPr>
          <p:cNvPr id="17" name="Text 6">
            <a:extLst>
              <a:ext uri="{FF2B5EF4-FFF2-40B4-BE49-F238E27FC236}">
                <a16:creationId xmlns:a16="http://schemas.microsoft.com/office/drawing/2014/main" id="{9583A1F2-ECBD-54D1-2FC5-3105086BBC59}"/>
              </a:ext>
            </a:extLst>
          </p:cNvPr>
          <p:cNvSpPr/>
          <p:nvPr/>
        </p:nvSpPr>
        <p:spPr>
          <a:xfrm>
            <a:off x="5107147" y="4592695"/>
            <a:ext cx="2749341" cy="193771"/>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Strategic Opportunity</a:t>
            </a:r>
            <a:endParaRPr lang="en-US" sz="2200" dirty="0"/>
          </a:p>
        </p:txBody>
      </p:sp>
      <p:sp>
        <p:nvSpPr>
          <p:cNvPr id="19" name="Text 7">
            <a:extLst>
              <a:ext uri="{FF2B5EF4-FFF2-40B4-BE49-F238E27FC236}">
                <a16:creationId xmlns:a16="http://schemas.microsoft.com/office/drawing/2014/main" id="{E6E9513C-756D-7200-30AD-4427408F2EE6}"/>
              </a:ext>
            </a:extLst>
          </p:cNvPr>
          <p:cNvSpPr/>
          <p:nvPr/>
        </p:nvSpPr>
        <p:spPr>
          <a:xfrm>
            <a:off x="5236808" y="5238997"/>
            <a:ext cx="5239360" cy="419066"/>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Target premium customers with exclusive offers</a:t>
            </a:r>
            <a:endParaRPr lang="en-US" sz="1750" dirty="0"/>
          </a:p>
        </p:txBody>
      </p:sp>
    </p:spTree>
    <p:extLst>
      <p:ext uri="{BB962C8B-B14F-4D97-AF65-F5344CB8AC3E}">
        <p14:creationId xmlns:p14="http://schemas.microsoft.com/office/powerpoint/2010/main" val="394481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a:extLst>
              <a:ext uri="{FF2B5EF4-FFF2-40B4-BE49-F238E27FC236}">
                <a16:creationId xmlns:a16="http://schemas.microsoft.com/office/drawing/2014/main" id="{74F4EC8C-FAF1-6E14-D098-CB333ED4E73E}"/>
              </a:ext>
            </a:extLst>
          </p:cNvPr>
          <p:cNvPicPr>
            <a:picLocks noChangeAspect="1"/>
          </p:cNvPicPr>
          <p:nvPr/>
        </p:nvPicPr>
        <p:blipFill>
          <a:blip r:embed="rId2"/>
          <a:srcRect l="5410" r="1295"/>
          <a:stretch>
            <a:fillRect/>
          </a:stretch>
        </p:blipFill>
        <p:spPr>
          <a:xfrm>
            <a:off x="140976" y="157527"/>
            <a:ext cx="11910047" cy="2473762"/>
          </a:xfrm>
          <a:prstGeom prst="rect">
            <a:avLst/>
          </a:prstGeom>
        </p:spPr>
      </p:pic>
      <p:sp>
        <p:nvSpPr>
          <p:cNvPr id="7" name="Text 0">
            <a:extLst>
              <a:ext uri="{FF2B5EF4-FFF2-40B4-BE49-F238E27FC236}">
                <a16:creationId xmlns:a16="http://schemas.microsoft.com/office/drawing/2014/main" id="{B479C03B-6F53-4233-C4D3-F4D38EFF27F2}"/>
              </a:ext>
            </a:extLst>
          </p:cNvPr>
          <p:cNvSpPr/>
          <p:nvPr/>
        </p:nvSpPr>
        <p:spPr>
          <a:xfrm>
            <a:off x="144853" y="4049730"/>
            <a:ext cx="5812631" cy="708779"/>
          </a:xfrm>
          <a:prstGeom prst="rect">
            <a:avLst/>
          </a:prstGeom>
          <a:noFill/>
          <a:ln/>
        </p:spPr>
        <p:txBody>
          <a:bodyPr wrap="none" lIns="0" tIns="0" rIns="0" bIns="0" rtlCol="0" anchor="t"/>
          <a:lstStyle/>
          <a:p>
            <a:pPr marL="0" indent="0" algn="l">
              <a:lnSpc>
                <a:spcPts val="5550"/>
              </a:lnSpc>
              <a:buNone/>
            </a:pPr>
            <a:r>
              <a:rPr lang="en-US" sz="4000" dirty="0">
                <a:solidFill>
                  <a:srgbClr val="5C4E3D"/>
                </a:solidFill>
                <a:latin typeface="Libre Baskerville" pitchFamily="34" charset="0"/>
                <a:ea typeface="Libre Baskerville" pitchFamily="34" charset="-122"/>
                <a:cs typeface="Libre Baskerville" pitchFamily="34" charset="-120"/>
              </a:rPr>
              <a:t>Top-Rated Products</a:t>
            </a:r>
            <a:endParaRPr lang="en-US" sz="4000" dirty="0"/>
          </a:p>
        </p:txBody>
      </p:sp>
      <p:pic>
        <p:nvPicPr>
          <p:cNvPr id="9" name="Image 1" descr="preencoded.png">
            <a:extLst>
              <a:ext uri="{FF2B5EF4-FFF2-40B4-BE49-F238E27FC236}">
                <a16:creationId xmlns:a16="http://schemas.microsoft.com/office/drawing/2014/main" id="{E56874DB-02F0-D471-4FCE-371B83E046DA}"/>
              </a:ext>
            </a:extLst>
          </p:cNvPr>
          <p:cNvPicPr>
            <a:picLocks noChangeAspect="1"/>
          </p:cNvPicPr>
          <p:nvPr/>
        </p:nvPicPr>
        <p:blipFill>
          <a:blip r:embed="rId3"/>
          <a:stretch>
            <a:fillRect/>
          </a:stretch>
        </p:blipFill>
        <p:spPr>
          <a:xfrm>
            <a:off x="144853" y="5098671"/>
            <a:ext cx="382667" cy="340162"/>
          </a:xfrm>
          <a:prstGeom prst="rect">
            <a:avLst/>
          </a:prstGeom>
        </p:spPr>
      </p:pic>
      <p:pic>
        <p:nvPicPr>
          <p:cNvPr id="11" name="Image 2" descr="preencoded.png">
            <a:extLst>
              <a:ext uri="{FF2B5EF4-FFF2-40B4-BE49-F238E27FC236}">
                <a16:creationId xmlns:a16="http://schemas.microsoft.com/office/drawing/2014/main" id="{293B396C-ECEC-C6A8-00CD-ABA37860FFA4}"/>
              </a:ext>
            </a:extLst>
          </p:cNvPr>
          <p:cNvPicPr>
            <a:picLocks noChangeAspect="1"/>
          </p:cNvPicPr>
          <p:nvPr/>
        </p:nvPicPr>
        <p:blipFill>
          <a:blip r:embed="rId3"/>
          <a:stretch>
            <a:fillRect/>
          </a:stretch>
        </p:blipFill>
        <p:spPr>
          <a:xfrm>
            <a:off x="584193" y="5098671"/>
            <a:ext cx="382667" cy="340162"/>
          </a:xfrm>
          <a:prstGeom prst="rect">
            <a:avLst/>
          </a:prstGeom>
        </p:spPr>
      </p:pic>
      <p:pic>
        <p:nvPicPr>
          <p:cNvPr id="13" name="Image 3" descr="preencoded.png">
            <a:extLst>
              <a:ext uri="{FF2B5EF4-FFF2-40B4-BE49-F238E27FC236}">
                <a16:creationId xmlns:a16="http://schemas.microsoft.com/office/drawing/2014/main" id="{DB3E5C24-1C3E-6B8B-97D5-2CAD256D1772}"/>
              </a:ext>
            </a:extLst>
          </p:cNvPr>
          <p:cNvPicPr>
            <a:picLocks noChangeAspect="1"/>
          </p:cNvPicPr>
          <p:nvPr/>
        </p:nvPicPr>
        <p:blipFill>
          <a:blip r:embed="rId3"/>
          <a:stretch>
            <a:fillRect/>
          </a:stretch>
        </p:blipFill>
        <p:spPr>
          <a:xfrm>
            <a:off x="1023534" y="5098671"/>
            <a:ext cx="382667" cy="340162"/>
          </a:xfrm>
          <a:prstGeom prst="rect">
            <a:avLst/>
          </a:prstGeom>
        </p:spPr>
      </p:pic>
      <p:pic>
        <p:nvPicPr>
          <p:cNvPr id="15" name="Image 4" descr="preencoded.png">
            <a:extLst>
              <a:ext uri="{FF2B5EF4-FFF2-40B4-BE49-F238E27FC236}">
                <a16:creationId xmlns:a16="http://schemas.microsoft.com/office/drawing/2014/main" id="{6F0EDB43-9212-79D7-9A9B-4E17078BB407}"/>
              </a:ext>
            </a:extLst>
          </p:cNvPr>
          <p:cNvPicPr>
            <a:picLocks noChangeAspect="1"/>
          </p:cNvPicPr>
          <p:nvPr/>
        </p:nvPicPr>
        <p:blipFill>
          <a:blip r:embed="rId3"/>
          <a:stretch>
            <a:fillRect/>
          </a:stretch>
        </p:blipFill>
        <p:spPr>
          <a:xfrm>
            <a:off x="1462875" y="5098671"/>
            <a:ext cx="382667" cy="340162"/>
          </a:xfrm>
          <a:prstGeom prst="rect">
            <a:avLst/>
          </a:prstGeom>
        </p:spPr>
      </p:pic>
      <p:pic>
        <p:nvPicPr>
          <p:cNvPr id="17" name="Image 5" descr="preencoded.png">
            <a:extLst>
              <a:ext uri="{FF2B5EF4-FFF2-40B4-BE49-F238E27FC236}">
                <a16:creationId xmlns:a16="http://schemas.microsoft.com/office/drawing/2014/main" id="{66091BE3-B197-BC65-C8CD-119A20F0C01B}"/>
              </a:ext>
            </a:extLst>
          </p:cNvPr>
          <p:cNvPicPr>
            <a:picLocks noChangeAspect="1"/>
          </p:cNvPicPr>
          <p:nvPr/>
        </p:nvPicPr>
        <p:blipFill>
          <a:blip r:embed="rId3"/>
          <a:stretch>
            <a:fillRect/>
          </a:stretch>
        </p:blipFill>
        <p:spPr>
          <a:xfrm>
            <a:off x="1902215" y="5098671"/>
            <a:ext cx="382667" cy="340162"/>
          </a:xfrm>
          <a:prstGeom prst="rect">
            <a:avLst/>
          </a:prstGeom>
        </p:spPr>
      </p:pic>
      <p:sp>
        <p:nvSpPr>
          <p:cNvPr id="19" name="Text 1">
            <a:extLst>
              <a:ext uri="{FF2B5EF4-FFF2-40B4-BE49-F238E27FC236}">
                <a16:creationId xmlns:a16="http://schemas.microsoft.com/office/drawing/2014/main" id="{3D28BEC1-0A4B-D4C9-822B-298CCAD75C38}"/>
              </a:ext>
            </a:extLst>
          </p:cNvPr>
          <p:cNvSpPr/>
          <p:nvPr/>
        </p:nvSpPr>
        <p:spPr>
          <a:xfrm>
            <a:off x="2454903" y="5157606"/>
            <a:ext cx="283488" cy="283488"/>
          </a:xfrm>
          <a:prstGeom prst="rect">
            <a:avLst/>
          </a:prstGeom>
          <a:noFill/>
          <a:ln/>
        </p:spPr>
        <p:txBody>
          <a:bodyPr wrap="none" lIns="0" tIns="0" rIns="0" bIns="0" rtlCol="0" anchor="t"/>
          <a:lstStyle/>
          <a:p>
            <a:pPr marL="0" indent="0" algn="l">
              <a:lnSpc>
                <a:spcPts val="2200"/>
              </a:lnSpc>
              <a:buNone/>
            </a:pPr>
            <a:r>
              <a:rPr lang="en-US" sz="2200" dirty="0">
                <a:solidFill>
                  <a:srgbClr val="454240"/>
                </a:solidFill>
                <a:latin typeface="Libre Baskerville" pitchFamily="34" charset="0"/>
                <a:ea typeface="Libre Baskerville" pitchFamily="34" charset="-122"/>
                <a:cs typeface="Libre Baskerville" pitchFamily="34" charset="-120"/>
              </a:rPr>
              <a:t>5</a:t>
            </a:r>
            <a:endParaRPr lang="en-US" sz="2200" dirty="0"/>
          </a:p>
        </p:txBody>
      </p:sp>
      <p:sp>
        <p:nvSpPr>
          <p:cNvPr id="21" name="Text 2">
            <a:extLst>
              <a:ext uri="{FF2B5EF4-FFF2-40B4-BE49-F238E27FC236}">
                <a16:creationId xmlns:a16="http://schemas.microsoft.com/office/drawing/2014/main" id="{15D4FA7D-D103-61CB-5CB4-E013DD6CC0F1}"/>
              </a:ext>
            </a:extLst>
          </p:cNvPr>
          <p:cNvSpPr/>
          <p:nvPr/>
        </p:nvSpPr>
        <p:spPr>
          <a:xfrm>
            <a:off x="144853" y="567017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Blouse</a:t>
            </a:r>
            <a:endParaRPr lang="en-US" sz="2200" dirty="0"/>
          </a:p>
        </p:txBody>
      </p:sp>
      <p:sp>
        <p:nvSpPr>
          <p:cNvPr id="23" name="Text 3">
            <a:extLst>
              <a:ext uri="{FF2B5EF4-FFF2-40B4-BE49-F238E27FC236}">
                <a16:creationId xmlns:a16="http://schemas.microsoft.com/office/drawing/2014/main" id="{7BAD3368-C3CC-E4FC-BA9D-0B8F6F8D0AC0}"/>
              </a:ext>
            </a:extLst>
          </p:cNvPr>
          <p:cNvSpPr/>
          <p:nvPr/>
        </p:nvSpPr>
        <p:spPr>
          <a:xfrm>
            <a:off x="144853" y="6160589"/>
            <a:ext cx="415861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Highest customer satisfaction</a:t>
            </a:r>
            <a:endParaRPr lang="en-US" sz="1750" dirty="0"/>
          </a:p>
        </p:txBody>
      </p:sp>
      <p:pic>
        <p:nvPicPr>
          <p:cNvPr id="25" name="Image 6" descr="preencoded.png">
            <a:extLst>
              <a:ext uri="{FF2B5EF4-FFF2-40B4-BE49-F238E27FC236}">
                <a16:creationId xmlns:a16="http://schemas.microsoft.com/office/drawing/2014/main" id="{25784288-609B-AE70-2014-798FCA0D967E}"/>
              </a:ext>
            </a:extLst>
          </p:cNvPr>
          <p:cNvPicPr>
            <a:picLocks noChangeAspect="1"/>
          </p:cNvPicPr>
          <p:nvPr/>
        </p:nvPicPr>
        <p:blipFill>
          <a:blip r:embed="rId3"/>
          <a:stretch>
            <a:fillRect/>
          </a:stretch>
        </p:blipFill>
        <p:spPr>
          <a:xfrm>
            <a:off x="4586956" y="5098671"/>
            <a:ext cx="382667" cy="340162"/>
          </a:xfrm>
          <a:prstGeom prst="rect">
            <a:avLst/>
          </a:prstGeom>
        </p:spPr>
      </p:pic>
      <p:pic>
        <p:nvPicPr>
          <p:cNvPr id="27" name="Image 7" descr="preencoded.png">
            <a:extLst>
              <a:ext uri="{FF2B5EF4-FFF2-40B4-BE49-F238E27FC236}">
                <a16:creationId xmlns:a16="http://schemas.microsoft.com/office/drawing/2014/main" id="{8D39BA95-0B17-FE10-547B-B7E69B086BF8}"/>
              </a:ext>
            </a:extLst>
          </p:cNvPr>
          <p:cNvPicPr>
            <a:picLocks noChangeAspect="1"/>
          </p:cNvPicPr>
          <p:nvPr/>
        </p:nvPicPr>
        <p:blipFill>
          <a:blip r:embed="rId3"/>
          <a:stretch>
            <a:fillRect/>
          </a:stretch>
        </p:blipFill>
        <p:spPr>
          <a:xfrm>
            <a:off x="5026296" y="5098671"/>
            <a:ext cx="382667" cy="340162"/>
          </a:xfrm>
          <a:prstGeom prst="rect">
            <a:avLst/>
          </a:prstGeom>
        </p:spPr>
      </p:pic>
      <p:pic>
        <p:nvPicPr>
          <p:cNvPr id="29" name="Image 8" descr="preencoded.png">
            <a:extLst>
              <a:ext uri="{FF2B5EF4-FFF2-40B4-BE49-F238E27FC236}">
                <a16:creationId xmlns:a16="http://schemas.microsoft.com/office/drawing/2014/main" id="{8765AB30-9087-6072-BC01-603A81870948}"/>
              </a:ext>
            </a:extLst>
          </p:cNvPr>
          <p:cNvPicPr>
            <a:picLocks noChangeAspect="1"/>
          </p:cNvPicPr>
          <p:nvPr/>
        </p:nvPicPr>
        <p:blipFill>
          <a:blip r:embed="rId3"/>
          <a:stretch>
            <a:fillRect/>
          </a:stretch>
        </p:blipFill>
        <p:spPr>
          <a:xfrm>
            <a:off x="5465637" y="5098671"/>
            <a:ext cx="382667" cy="340162"/>
          </a:xfrm>
          <a:prstGeom prst="rect">
            <a:avLst/>
          </a:prstGeom>
        </p:spPr>
      </p:pic>
      <p:pic>
        <p:nvPicPr>
          <p:cNvPr id="31" name="Image 9" descr="preencoded.png">
            <a:extLst>
              <a:ext uri="{FF2B5EF4-FFF2-40B4-BE49-F238E27FC236}">
                <a16:creationId xmlns:a16="http://schemas.microsoft.com/office/drawing/2014/main" id="{66272B7F-2881-2A02-998E-41525560032E}"/>
              </a:ext>
            </a:extLst>
          </p:cNvPr>
          <p:cNvPicPr>
            <a:picLocks noChangeAspect="1"/>
          </p:cNvPicPr>
          <p:nvPr/>
        </p:nvPicPr>
        <p:blipFill>
          <a:blip r:embed="rId3"/>
          <a:stretch>
            <a:fillRect/>
          </a:stretch>
        </p:blipFill>
        <p:spPr>
          <a:xfrm>
            <a:off x="5904977" y="5098671"/>
            <a:ext cx="382667" cy="340162"/>
          </a:xfrm>
          <a:prstGeom prst="rect">
            <a:avLst/>
          </a:prstGeom>
        </p:spPr>
      </p:pic>
      <p:pic>
        <p:nvPicPr>
          <p:cNvPr id="33" name="Image 10" descr="preencoded.png">
            <a:extLst>
              <a:ext uri="{FF2B5EF4-FFF2-40B4-BE49-F238E27FC236}">
                <a16:creationId xmlns:a16="http://schemas.microsoft.com/office/drawing/2014/main" id="{CFB76422-8BBC-0646-D019-FFD8BFE575E7}"/>
              </a:ext>
            </a:extLst>
          </p:cNvPr>
          <p:cNvPicPr>
            <a:picLocks noChangeAspect="1"/>
          </p:cNvPicPr>
          <p:nvPr/>
        </p:nvPicPr>
        <p:blipFill>
          <a:blip r:embed="rId3"/>
          <a:stretch>
            <a:fillRect/>
          </a:stretch>
        </p:blipFill>
        <p:spPr>
          <a:xfrm>
            <a:off x="6344318" y="5098671"/>
            <a:ext cx="382667" cy="340162"/>
          </a:xfrm>
          <a:prstGeom prst="rect">
            <a:avLst/>
          </a:prstGeom>
        </p:spPr>
      </p:pic>
      <p:sp>
        <p:nvSpPr>
          <p:cNvPr id="35" name="Text 4">
            <a:extLst>
              <a:ext uri="{FF2B5EF4-FFF2-40B4-BE49-F238E27FC236}">
                <a16:creationId xmlns:a16="http://schemas.microsoft.com/office/drawing/2014/main" id="{5196FF00-A134-2B7C-028E-BB0CCC6A53B9}"/>
              </a:ext>
            </a:extLst>
          </p:cNvPr>
          <p:cNvSpPr/>
          <p:nvPr/>
        </p:nvSpPr>
        <p:spPr>
          <a:xfrm>
            <a:off x="6897006" y="5157606"/>
            <a:ext cx="283488" cy="283488"/>
          </a:xfrm>
          <a:prstGeom prst="rect">
            <a:avLst/>
          </a:prstGeom>
          <a:noFill/>
          <a:ln/>
        </p:spPr>
        <p:txBody>
          <a:bodyPr wrap="none" lIns="0" tIns="0" rIns="0" bIns="0" rtlCol="0" anchor="t"/>
          <a:lstStyle/>
          <a:p>
            <a:pPr marL="0" indent="0" algn="l">
              <a:lnSpc>
                <a:spcPts val="2200"/>
              </a:lnSpc>
              <a:buNone/>
            </a:pPr>
            <a:r>
              <a:rPr lang="en-US" sz="2200" dirty="0">
                <a:solidFill>
                  <a:srgbClr val="454240"/>
                </a:solidFill>
                <a:latin typeface="Libre Baskerville" pitchFamily="34" charset="0"/>
                <a:ea typeface="Libre Baskerville" pitchFamily="34" charset="-122"/>
                <a:cs typeface="Libre Baskerville" pitchFamily="34" charset="-120"/>
              </a:rPr>
              <a:t>5</a:t>
            </a:r>
            <a:endParaRPr lang="en-US" sz="2200" dirty="0"/>
          </a:p>
        </p:txBody>
      </p:sp>
      <p:sp>
        <p:nvSpPr>
          <p:cNvPr id="37" name="Text 5">
            <a:extLst>
              <a:ext uri="{FF2B5EF4-FFF2-40B4-BE49-F238E27FC236}">
                <a16:creationId xmlns:a16="http://schemas.microsoft.com/office/drawing/2014/main" id="{CE02432F-B440-8CD0-2D21-0D60AF7BE863}"/>
              </a:ext>
            </a:extLst>
          </p:cNvPr>
          <p:cNvSpPr/>
          <p:nvPr/>
        </p:nvSpPr>
        <p:spPr>
          <a:xfrm>
            <a:off x="4586956" y="567017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Dress</a:t>
            </a:r>
            <a:endParaRPr lang="en-US" sz="2200" dirty="0"/>
          </a:p>
        </p:txBody>
      </p:sp>
      <p:sp>
        <p:nvSpPr>
          <p:cNvPr id="39" name="Text 6">
            <a:extLst>
              <a:ext uri="{FF2B5EF4-FFF2-40B4-BE49-F238E27FC236}">
                <a16:creationId xmlns:a16="http://schemas.microsoft.com/office/drawing/2014/main" id="{DC2682F4-EE27-3022-459F-CFDF58BDA860}"/>
              </a:ext>
            </a:extLst>
          </p:cNvPr>
          <p:cNvSpPr/>
          <p:nvPr/>
        </p:nvSpPr>
        <p:spPr>
          <a:xfrm>
            <a:off x="4586956" y="6160589"/>
            <a:ext cx="4158615"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Consistently excellent reviews</a:t>
            </a:r>
            <a:endParaRPr lang="en-US" sz="1750" dirty="0"/>
          </a:p>
        </p:txBody>
      </p:sp>
      <p:pic>
        <p:nvPicPr>
          <p:cNvPr id="41" name="Image 11" descr="preencoded.png">
            <a:extLst>
              <a:ext uri="{FF2B5EF4-FFF2-40B4-BE49-F238E27FC236}">
                <a16:creationId xmlns:a16="http://schemas.microsoft.com/office/drawing/2014/main" id="{99A3EDD5-700C-7CB5-C149-39B847006963}"/>
              </a:ext>
            </a:extLst>
          </p:cNvPr>
          <p:cNvPicPr>
            <a:picLocks noChangeAspect="1"/>
          </p:cNvPicPr>
          <p:nvPr/>
        </p:nvPicPr>
        <p:blipFill>
          <a:blip r:embed="rId3"/>
          <a:stretch>
            <a:fillRect/>
          </a:stretch>
        </p:blipFill>
        <p:spPr>
          <a:xfrm>
            <a:off x="9029058" y="5098671"/>
            <a:ext cx="382667" cy="340162"/>
          </a:xfrm>
          <a:prstGeom prst="rect">
            <a:avLst/>
          </a:prstGeom>
        </p:spPr>
      </p:pic>
      <p:pic>
        <p:nvPicPr>
          <p:cNvPr id="43" name="Image 12" descr="preencoded.png">
            <a:extLst>
              <a:ext uri="{FF2B5EF4-FFF2-40B4-BE49-F238E27FC236}">
                <a16:creationId xmlns:a16="http://schemas.microsoft.com/office/drawing/2014/main" id="{7DBDC85B-02F0-FC0E-46CD-9E0AF6EB8D93}"/>
              </a:ext>
            </a:extLst>
          </p:cNvPr>
          <p:cNvPicPr>
            <a:picLocks noChangeAspect="1"/>
          </p:cNvPicPr>
          <p:nvPr/>
        </p:nvPicPr>
        <p:blipFill>
          <a:blip r:embed="rId3"/>
          <a:stretch>
            <a:fillRect/>
          </a:stretch>
        </p:blipFill>
        <p:spPr>
          <a:xfrm>
            <a:off x="9468399" y="5098671"/>
            <a:ext cx="382667" cy="340162"/>
          </a:xfrm>
          <a:prstGeom prst="rect">
            <a:avLst/>
          </a:prstGeom>
        </p:spPr>
      </p:pic>
      <p:pic>
        <p:nvPicPr>
          <p:cNvPr id="45" name="Image 13" descr="preencoded.png">
            <a:extLst>
              <a:ext uri="{FF2B5EF4-FFF2-40B4-BE49-F238E27FC236}">
                <a16:creationId xmlns:a16="http://schemas.microsoft.com/office/drawing/2014/main" id="{DB8CF049-02E0-AEA1-D3DE-EA71E2C2DC22}"/>
              </a:ext>
            </a:extLst>
          </p:cNvPr>
          <p:cNvPicPr>
            <a:picLocks noChangeAspect="1"/>
          </p:cNvPicPr>
          <p:nvPr/>
        </p:nvPicPr>
        <p:blipFill>
          <a:blip r:embed="rId3"/>
          <a:stretch>
            <a:fillRect/>
          </a:stretch>
        </p:blipFill>
        <p:spPr>
          <a:xfrm>
            <a:off x="9907740" y="5098671"/>
            <a:ext cx="382667" cy="340162"/>
          </a:xfrm>
          <a:prstGeom prst="rect">
            <a:avLst/>
          </a:prstGeom>
        </p:spPr>
      </p:pic>
      <p:pic>
        <p:nvPicPr>
          <p:cNvPr id="47" name="Image 14" descr="preencoded.png">
            <a:extLst>
              <a:ext uri="{FF2B5EF4-FFF2-40B4-BE49-F238E27FC236}">
                <a16:creationId xmlns:a16="http://schemas.microsoft.com/office/drawing/2014/main" id="{87423CA4-07CE-5DB5-6297-3C30CA4E28F7}"/>
              </a:ext>
            </a:extLst>
          </p:cNvPr>
          <p:cNvPicPr>
            <a:picLocks noChangeAspect="1"/>
          </p:cNvPicPr>
          <p:nvPr/>
        </p:nvPicPr>
        <p:blipFill>
          <a:blip r:embed="rId3"/>
          <a:stretch>
            <a:fillRect/>
          </a:stretch>
        </p:blipFill>
        <p:spPr>
          <a:xfrm>
            <a:off x="10347080" y="5098671"/>
            <a:ext cx="382667" cy="340162"/>
          </a:xfrm>
          <a:prstGeom prst="rect">
            <a:avLst/>
          </a:prstGeom>
        </p:spPr>
      </p:pic>
      <p:pic>
        <p:nvPicPr>
          <p:cNvPr id="49" name="Image 15" descr="preencoded.png">
            <a:extLst>
              <a:ext uri="{FF2B5EF4-FFF2-40B4-BE49-F238E27FC236}">
                <a16:creationId xmlns:a16="http://schemas.microsoft.com/office/drawing/2014/main" id="{573286EA-60CC-312D-05D9-3AADC1B4EC26}"/>
              </a:ext>
            </a:extLst>
          </p:cNvPr>
          <p:cNvPicPr>
            <a:picLocks noChangeAspect="1"/>
          </p:cNvPicPr>
          <p:nvPr/>
        </p:nvPicPr>
        <p:blipFill>
          <a:blip r:embed="rId4"/>
          <a:stretch>
            <a:fillRect/>
          </a:stretch>
        </p:blipFill>
        <p:spPr>
          <a:xfrm>
            <a:off x="10786421" y="5098671"/>
            <a:ext cx="382667" cy="340162"/>
          </a:xfrm>
          <a:prstGeom prst="rect">
            <a:avLst/>
          </a:prstGeom>
        </p:spPr>
      </p:pic>
      <p:sp>
        <p:nvSpPr>
          <p:cNvPr id="51" name="Text 7">
            <a:extLst>
              <a:ext uri="{FF2B5EF4-FFF2-40B4-BE49-F238E27FC236}">
                <a16:creationId xmlns:a16="http://schemas.microsoft.com/office/drawing/2014/main" id="{69C59EEB-2507-8A99-45F4-1B10848C0439}"/>
              </a:ext>
            </a:extLst>
          </p:cNvPr>
          <p:cNvSpPr/>
          <p:nvPr/>
        </p:nvSpPr>
        <p:spPr>
          <a:xfrm>
            <a:off x="11339109" y="5157606"/>
            <a:ext cx="283488" cy="283488"/>
          </a:xfrm>
          <a:prstGeom prst="rect">
            <a:avLst/>
          </a:prstGeom>
          <a:noFill/>
          <a:ln/>
        </p:spPr>
        <p:txBody>
          <a:bodyPr wrap="none" lIns="0" tIns="0" rIns="0" bIns="0" rtlCol="0" anchor="t"/>
          <a:lstStyle/>
          <a:p>
            <a:pPr marL="0" indent="0" algn="l">
              <a:lnSpc>
                <a:spcPts val="2200"/>
              </a:lnSpc>
              <a:buNone/>
            </a:pPr>
            <a:r>
              <a:rPr lang="en-US" sz="2200" dirty="0">
                <a:solidFill>
                  <a:srgbClr val="454240"/>
                </a:solidFill>
                <a:latin typeface="Libre Baskerville" pitchFamily="34" charset="0"/>
                <a:ea typeface="Libre Baskerville" pitchFamily="34" charset="-122"/>
                <a:cs typeface="Libre Baskerville" pitchFamily="34" charset="-120"/>
              </a:rPr>
              <a:t>4</a:t>
            </a:r>
            <a:endParaRPr lang="en-US" sz="2200" dirty="0"/>
          </a:p>
        </p:txBody>
      </p:sp>
      <p:sp>
        <p:nvSpPr>
          <p:cNvPr id="53" name="Text 8">
            <a:extLst>
              <a:ext uri="{FF2B5EF4-FFF2-40B4-BE49-F238E27FC236}">
                <a16:creationId xmlns:a16="http://schemas.microsoft.com/office/drawing/2014/main" id="{83826D4F-EFAA-BD36-E538-EC927F1E0856}"/>
              </a:ext>
            </a:extLst>
          </p:cNvPr>
          <p:cNvSpPr/>
          <p:nvPr/>
        </p:nvSpPr>
        <p:spPr>
          <a:xfrm>
            <a:off x="9029058" y="567017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Shirt</a:t>
            </a:r>
            <a:endParaRPr lang="en-US" sz="2200" dirty="0"/>
          </a:p>
        </p:txBody>
      </p:sp>
      <p:sp>
        <p:nvSpPr>
          <p:cNvPr id="55" name="Text 9">
            <a:extLst>
              <a:ext uri="{FF2B5EF4-FFF2-40B4-BE49-F238E27FC236}">
                <a16:creationId xmlns:a16="http://schemas.microsoft.com/office/drawing/2014/main" id="{8746EABB-7BEC-7B61-9B3D-E69214C5E3DB}"/>
              </a:ext>
            </a:extLst>
          </p:cNvPr>
          <p:cNvSpPr/>
          <p:nvPr/>
        </p:nvSpPr>
        <p:spPr>
          <a:xfrm>
            <a:off x="9029059" y="6160589"/>
            <a:ext cx="2926968" cy="362903"/>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Strong customer approval</a:t>
            </a:r>
            <a:endParaRPr lang="en-US" sz="1750" dirty="0"/>
          </a:p>
        </p:txBody>
      </p:sp>
    </p:spTree>
    <p:extLst>
      <p:ext uri="{BB962C8B-B14F-4D97-AF65-F5344CB8AC3E}">
        <p14:creationId xmlns:p14="http://schemas.microsoft.com/office/powerpoint/2010/main" val="3766451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8F26E311-691F-4EB3-B0A5-FBF0C492BFAF}"/>
              </a:ext>
            </a:extLst>
          </p:cNvPr>
          <p:cNvPicPr>
            <a:picLocks noChangeAspect="1"/>
          </p:cNvPicPr>
          <p:nvPr/>
        </p:nvPicPr>
        <p:blipFill>
          <a:blip r:embed="rId2"/>
          <a:stretch>
            <a:fillRect/>
          </a:stretch>
        </p:blipFill>
        <p:spPr>
          <a:xfrm>
            <a:off x="7644673" y="70555"/>
            <a:ext cx="4477926" cy="6716889"/>
          </a:xfrm>
          <a:prstGeom prst="rect">
            <a:avLst/>
          </a:prstGeom>
        </p:spPr>
      </p:pic>
      <p:sp>
        <p:nvSpPr>
          <p:cNvPr id="5" name="Text 0">
            <a:extLst>
              <a:ext uri="{FF2B5EF4-FFF2-40B4-BE49-F238E27FC236}">
                <a16:creationId xmlns:a16="http://schemas.microsoft.com/office/drawing/2014/main" id="{9A0B66A0-753F-24D2-D16F-40FD93350DAC}"/>
              </a:ext>
            </a:extLst>
          </p:cNvPr>
          <p:cNvSpPr/>
          <p:nvPr/>
        </p:nvSpPr>
        <p:spPr>
          <a:xfrm>
            <a:off x="590040" y="351534"/>
            <a:ext cx="6508849" cy="1457184"/>
          </a:xfrm>
          <a:prstGeom prst="rect">
            <a:avLst/>
          </a:prstGeom>
          <a:noFill/>
          <a:ln/>
        </p:spPr>
        <p:txBody>
          <a:bodyPr wrap="square" lIns="0" tIns="0" rIns="0" bIns="0" rtlCol="0" anchor="t"/>
          <a:lstStyle/>
          <a:p>
            <a:pPr marL="0" indent="0" algn="l">
              <a:lnSpc>
                <a:spcPts val="5550"/>
              </a:lnSpc>
              <a:buNone/>
            </a:pPr>
            <a:r>
              <a:rPr lang="en-US" sz="4000" dirty="0">
                <a:solidFill>
                  <a:srgbClr val="5C4E3D"/>
                </a:solidFill>
                <a:latin typeface="Libre Baskerville" pitchFamily="34" charset="0"/>
                <a:ea typeface="Libre Baskerville" pitchFamily="34" charset="-122"/>
                <a:cs typeface="Libre Baskerville" pitchFamily="34" charset="-120"/>
              </a:rPr>
              <a:t>Shipping Preferences Impact</a:t>
            </a:r>
            <a:endParaRPr lang="en-US" sz="4000" dirty="0"/>
          </a:p>
        </p:txBody>
      </p:sp>
      <p:sp>
        <p:nvSpPr>
          <p:cNvPr id="7" name="Text 1">
            <a:extLst>
              <a:ext uri="{FF2B5EF4-FFF2-40B4-BE49-F238E27FC236}">
                <a16:creationId xmlns:a16="http://schemas.microsoft.com/office/drawing/2014/main" id="{863D7138-07AC-3E97-8A46-787B310901DD}"/>
              </a:ext>
            </a:extLst>
          </p:cNvPr>
          <p:cNvSpPr/>
          <p:nvPr/>
        </p:nvSpPr>
        <p:spPr>
          <a:xfrm>
            <a:off x="467136" y="2758578"/>
            <a:ext cx="2539302" cy="381932"/>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Express Shipping</a:t>
            </a:r>
            <a:endParaRPr lang="en-US" sz="2200" dirty="0"/>
          </a:p>
        </p:txBody>
      </p:sp>
      <p:sp>
        <p:nvSpPr>
          <p:cNvPr id="9" name="Text 2">
            <a:extLst>
              <a:ext uri="{FF2B5EF4-FFF2-40B4-BE49-F238E27FC236}">
                <a16:creationId xmlns:a16="http://schemas.microsoft.com/office/drawing/2014/main" id="{AFD54652-7DD6-476D-8D21-1755E3D4E713}"/>
              </a:ext>
            </a:extLst>
          </p:cNvPr>
          <p:cNvSpPr/>
          <p:nvPr/>
        </p:nvSpPr>
        <p:spPr>
          <a:xfrm>
            <a:off x="815881" y="3140510"/>
            <a:ext cx="2857885" cy="949860"/>
          </a:xfrm>
          <a:prstGeom prst="rect">
            <a:avLst/>
          </a:prstGeom>
          <a:noFill/>
          <a:ln/>
        </p:spPr>
        <p:txBody>
          <a:bodyPr wrap="none" lIns="0" tIns="0" rIns="0" bIns="0" rtlCol="0" anchor="t"/>
          <a:lstStyle/>
          <a:p>
            <a:pPr marL="0" indent="0" algn="l">
              <a:lnSpc>
                <a:spcPts val="11150"/>
              </a:lnSpc>
              <a:buNone/>
            </a:pPr>
            <a:r>
              <a:rPr lang="en-US" sz="6000" dirty="0">
                <a:solidFill>
                  <a:srgbClr val="5C4E3D"/>
                </a:solidFill>
                <a:latin typeface="Libre Baskerville" pitchFamily="34" charset="0"/>
                <a:ea typeface="Libre Baskerville" pitchFamily="34" charset="-122"/>
                <a:cs typeface="Libre Baskerville" pitchFamily="34" charset="-120"/>
              </a:rPr>
              <a:t>$65</a:t>
            </a:r>
            <a:endParaRPr lang="en-US" sz="6000" dirty="0"/>
          </a:p>
        </p:txBody>
      </p:sp>
      <p:sp>
        <p:nvSpPr>
          <p:cNvPr id="11" name="Text 3">
            <a:extLst>
              <a:ext uri="{FF2B5EF4-FFF2-40B4-BE49-F238E27FC236}">
                <a16:creationId xmlns:a16="http://schemas.microsoft.com/office/drawing/2014/main" id="{03F4ACD8-AA8E-52AF-6B78-83045525A969}"/>
              </a:ext>
            </a:extLst>
          </p:cNvPr>
          <p:cNvSpPr/>
          <p:nvPr/>
        </p:nvSpPr>
        <p:spPr>
          <a:xfrm>
            <a:off x="364617" y="4547773"/>
            <a:ext cx="2857885" cy="243149"/>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Average purchase amount</a:t>
            </a:r>
            <a:endParaRPr lang="en-US" sz="1750" dirty="0"/>
          </a:p>
        </p:txBody>
      </p:sp>
      <p:sp>
        <p:nvSpPr>
          <p:cNvPr id="13" name="Text 4">
            <a:extLst>
              <a:ext uri="{FF2B5EF4-FFF2-40B4-BE49-F238E27FC236}">
                <a16:creationId xmlns:a16="http://schemas.microsoft.com/office/drawing/2014/main" id="{53EE4056-333D-DEBF-9E02-6093C85A67ED}"/>
              </a:ext>
            </a:extLst>
          </p:cNvPr>
          <p:cNvSpPr/>
          <p:nvPr/>
        </p:nvSpPr>
        <p:spPr>
          <a:xfrm>
            <a:off x="4443410" y="2781681"/>
            <a:ext cx="2314081" cy="237405"/>
          </a:xfrm>
          <a:prstGeom prst="rect">
            <a:avLst/>
          </a:prstGeom>
          <a:noFill/>
          <a:ln/>
        </p:spPr>
        <p:txBody>
          <a:bodyPr wrap="non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Standard Shipping</a:t>
            </a:r>
            <a:endParaRPr lang="en-US" sz="2200" dirty="0"/>
          </a:p>
        </p:txBody>
      </p:sp>
      <p:sp>
        <p:nvSpPr>
          <p:cNvPr id="15" name="Text 5">
            <a:extLst>
              <a:ext uri="{FF2B5EF4-FFF2-40B4-BE49-F238E27FC236}">
                <a16:creationId xmlns:a16="http://schemas.microsoft.com/office/drawing/2014/main" id="{D6809927-AD8C-3983-DB31-78CEF56050A7}"/>
              </a:ext>
            </a:extLst>
          </p:cNvPr>
          <p:cNvSpPr/>
          <p:nvPr/>
        </p:nvSpPr>
        <p:spPr>
          <a:xfrm>
            <a:off x="4878413" y="3140509"/>
            <a:ext cx="2043498" cy="1358943"/>
          </a:xfrm>
          <a:prstGeom prst="rect">
            <a:avLst/>
          </a:prstGeom>
          <a:noFill/>
          <a:ln/>
        </p:spPr>
        <p:txBody>
          <a:bodyPr wrap="none" lIns="0" tIns="0" rIns="0" bIns="0" rtlCol="0" anchor="t"/>
          <a:lstStyle/>
          <a:p>
            <a:pPr marL="0" indent="0" algn="l">
              <a:lnSpc>
                <a:spcPts val="11150"/>
              </a:lnSpc>
              <a:buNone/>
            </a:pPr>
            <a:r>
              <a:rPr lang="en-US" sz="6000" dirty="0">
                <a:solidFill>
                  <a:srgbClr val="5C4E3D"/>
                </a:solidFill>
                <a:latin typeface="Libre Baskerville" pitchFamily="34" charset="0"/>
                <a:ea typeface="Libre Baskerville" pitchFamily="34" charset="-122"/>
                <a:cs typeface="Libre Baskerville" pitchFamily="34" charset="-120"/>
              </a:rPr>
              <a:t>$58</a:t>
            </a:r>
            <a:endParaRPr lang="en-US" sz="6000" dirty="0"/>
          </a:p>
        </p:txBody>
      </p:sp>
      <p:sp>
        <p:nvSpPr>
          <p:cNvPr id="17" name="Text 6">
            <a:extLst>
              <a:ext uri="{FF2B5EF4-FFF2-40B4-BE49-F238E27FC236}">
                <a16:creationId xmlns:a16="http://schemas.microsoft.com/office/drawing/2014/main" id="{4D59DED1-BBDE-96EB-B832-0A5EB0AB1180}"/>
              </a:ext>
            </a:extLst>
          </p:cNvPr>
          <p:cNvSpPr/>
          <p:nvPr/>
        </p:nvSpPr>
        <p:spPr>
          <a:xfrm>
            <a:off x="4443410" y="4491410"/>
            <a:ext cx="2850266" cy="366871"/>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Average purchase amount</a:t>
            </a:r>
            <a:endParaRPr lang="en-US" sz="1750" dirty="0"/>
          </a:p>
        </p:txBody>
      </p:sp>
      <p:sp>
        <p:nvSpPr>
          <p:cNvPr id="19" name="Text 7">
            <a:extLst>
              <a:ext uri="{FF2B5EF4-FFF2-40B4-BE49-F238E27FC236}">
                <a16:creationId xmlns:a16="http://schemas.microsoft.com/office/drawing/2014/main" id="{CC5C9D42-7BE9-BE49-FE57-7C67BD5AB38B}"/>
              </a:ext>
            </a:extLst>
          </p:cNvPr>
          <p:cNvSpPr/>
          <p:nvPr/>
        </p:nvSpPr>
        <p:spPr>
          <a:xfrm>
            <a:off x="1042220" y="5376058"/>
            <a:ext cx="6167450" cy="243149"/>
          </a:xfrm>
          <a:prstGeom prst="rect">
            <a:avLst/>
          </a:prstGeom>
          <a:noFill/>
          <a:ln/>
        </p:spPr>
        <p:txBody>
          <a:bodyPr wrap="none" lIns="0" tIns="0" rIns="0" bIns="0" rtlCol="0" anchor="t"/>
          <a:lstStyle/>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Express shipping customers spend 12% more per transaction</a:t>
            </a:r>
            <a:endParaRPr lang="en-US" sz="1750" dirty="0"/>
          </a:p>
        </p:txBody>
      </p:sp>
    </p:spTree>
    <p:extLst>
      <p:ext uri="{BB962C8B-B14F-4D97-AF65-F5344CB8AC3E}">
        <p14:creationId xmlns:p14="http://schemas.microsoft.com/office/powerpoint/2010/main" val="3413644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E0ED7BF-BB02-C313-E1A5-36CB6264B8A9}"/>
              </a:ext>
            </a:extLst>
          </p:cNvPr>
          <p:cNvSpPr/>
          <p:nvPr/>
        </p:nvSpPr>
        <p:spPr>
          <a:xfrm>
            <a:off x="432619" y="265470"/>
            <a:ext cx="6154994" cy="847376"/>
          </a:xfrm>
          <a:prstGeom prst="rect">
            <a:avLst/>
          </a:prstGeom>
          <a:noFill/>
          <a:ln/>
        </p:spPr>
        <p:txBody>
          <a:bodyPr wrap="none" lIns="0" tIns="0" rIns="0" bIns="0" rtlCol="0" anchor="t"/>
          <a:lstStyle/>
          <a:p>
            <a:pPr marL="0" indent="0" algn="l">
              <a:lnSpc>
                <a:spcPts val="5550"/>
              </a:lnSpc>
              <a:buNone/>
            </a:pPr>
            <a:r>
              <a:rPr lang="en-US" sz="4000" dirty="0">
                <a:solidFill>
                  <a:srgbClr val="5C4E3D"/>
                </a:solidFill>
                <a:latin typeface="Libre Baskerville" pitchFamily="34" charset="0"/>
                <a:ea typeface="Libre Baskerville" pitchFamily="34" charset="-122"/>
                <a:cs typeface="Libre Baskerville" pitchFamily="34" charset="-120"/>
              </a:rPr>
              <a:t>Subscription Impact</a:t>
            </a:r>
            <a:endParaRPr lang="en-US" sz="4000" dirty="0"/>
          </a:p>
        </p:txBody>
      </p:sp>
      <p:sp>
        <p:nvSpPr>
          <p:cNvPr id="5" name="Text 1">
            <a:extLst>
              <a:ext uri="{FF2B5EF4-FFF2-40B4-BE49-F238E27FC236}">
                <a16:creationId xmlns:a16="http://schemas.microsoft.com/office/drawing/2014/main" id="{DBB330EB-07FC-94B4-1E33-50F2F0014971}"/>
              </a:ext>
            </a:extLst>
          </p:cNvPr>
          <p:cNvSpPr/>
          <p:nvPr/>
        </p:nvSpPr>
        <p:spPr>
          <a:xfrm>
            <a:off x="517730" y="2846502"/>
            <a:ext cx="2255742" cy="344165"/>
          </a:xfrm>
          <a:prstGeom prst="rect">
            <a:avLst/>
          </a:prstGeom>
          <a:noFill/>
          <a:ln/>
        </p:spPr>
        <p:txBody>
          <a:bodyPr wrap="none" lIns="0" tIns="0" rIns="0" bIns="0" rtlCol="0" anchor="t"/>
          <a:lstStyle/>
          <a:p>
            <a:pPr marL="0" indent="0" algn="ctr">
              <a:lnSpc>
                <a:spcPts val="4450"/>
              </a:lnSpc>
              <a:buNone/>
            </a:pPr>
            <a:r>
              <a:rPr lang="en-US" sz="4450" dirty="0">
                <a:solidFill>
                  <a:srgbClr val="454240"/>
                </a:solidFill>
                <a:latin typeface="Libre Baskerville" pitchFamily="34" charset="0"/>
                <a:ea typeface="Libre Baskerville" pitchFamily="34" charset="-122"/>
                <a:cs typeface="Libre Baskerville" pitchFamily="34" charset="-120"/>
              </a:rPr>
              <a:t>68%</a:t>
            </a:r>
            <a:endParaRPr lang="en-US" sz="4450" dirty="0"/>
          </a:p>
        </p:txBody>
      </p:sp>
      <p:pic>
        <p:nvPicPr>
          <p:cNvPr id="7" name="Image 0" descr="preencoded.png">
            <a:extLst>
              <a:ext uri="{FF2B5EF4-FFF2-40B4-BE49-F238E27FC236}">
                <a16:creationId xmlns:a16="http://schemas.microsoft.com/office/drawing/2014/main" id="{7AE76A8E-5A43-8EA6-F1C1-C385FAF374BC}"/>
              </a:ext>
            </a:extLst>
          </p:cNvPr>
          <p:cNvPicPr>
            <a:picLocks noChangeAspect="1"/>
          </p:cNvPicPr>
          <p:nvPr/>
        </p:nvPicPr>
        <p:blipFill>
          <a:blip r:embed="rId2"/>
          <a:stretch>
            <a:fillRect/>
          </a:stretch>
        </p:blipFill>
        <p:spPr>
          <a:xfrm>
            <a:off x="328877" y="1857403"/>
            <a:ext cx="2750942" cy="2750942"/>
          </a:xfrm>
          <a:prstGeom prst="rect">
            <a:avLst/>
          </a:prstGeom>
        </p:spPr>
      </p:pic>
      <p:sp>
        <p:nvSpPr>
          <p:cNvPr id="9" name="Text 2">
            <a:extLst>
              <a:ext uri="{FF2B5EF4-FFF2-40B4-BE49-F238E27FC236}">
                <a16:creationId xmlns:a16="http://schemas.microsoft.com/office/drawing/2014/main" id="{A6973297-3FD0-DA6F-5303-5150CD285635}"/>
              </a:ext>
            </a:extLst>
          </p:cNvPr>
          <p:cNvSpPr/>
          <p:nvPr/>
        </p:nvSpPr>
        <p:spPr>
          <a:xfrm>
            <a:off x="503793" y="5031076"/>
            <a:ext cx="2292420" cy="215086"/>
          </a:xfrm>
          <a:prstGeom prst="rect">
            <a:avLst/>
          </a:prstGeom>
          <a:noFill/>
          <a:ln/>
        </p:spPr>
        <p:txBody>
          <a:bodyPr wrap="none" lIns="0" tIns="0" rIns="0" bIns="0" rtlCol="0" anchor="t"/>
          <a:lstStyle/>
          <a:p>
            <a:pPr marL="0" indent="0" algn="ctr">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Higher Spend</a:t>
            </a:r>
            <a:endParaRPr lang="en-US" sz="2200" dirty="0"/>
          </a:p>
        </p:txBody>
      </p:sp>
      <p:sp>
        <p:nvSpPr>
          <p:cNvPr id="11" name="Text 3">
            <a:extLst>
              <a:ext uri="{FF2B5EF4-FFF2-40B4-BE49-F238E27FC236}">
                <a16:creationId xmlns:a16="http://schemas.microsoft.com/office/drawing/2014/main" id="{85764F73-E1B6-1FBA-DCAF-C8CDE6B25FFA}"/>
              </a:ext>
            </a:extLst>
          </p:cNvPr>
          <p:cNvSpPr/>
          <p:nvPr/>
        </p:nvSpPr>
        <p:spPr>
          <a:xfrm>
            <a:off x="95527" y="5524865"/>
            <a:ext cx="3362435" cy="220289"/>
          </a:xfrm>
          <a:prstGeom prst="rect">
            <a:avLst/>
          </a:prstGeom>
          <a:noFill/>
          <a:ln/>
        </p:spPr>
        <p:txBody>
          <a:bodyPr wrap="none" lIns="0" tIns="0" rIns="0" bIns="0" rtlCol="0" anchor="t"/>
          <a:lstStyle/>
          <a:p>
            <a:pPr marL="0" indent="0" algn="ctr">
              <a:lnSpc>
                <a:spcPts val="2850"/>
              </a:lnSpc>
              <a:buNone/>
            </a:pPr>
            <a:r>
              <a:rPr lang="en-US" sz="1750" dirty="0">
                <a:solidFill>
                  <a:srgbClr val="454240"/>
                </a:solidFill>
                <a:latin typeface="DM Sans" pitchFamily="34" charset="0"/>
                <a:ea typeface="DM Sans" pitchFamily="34" charset="-122"/>
                <a:cs typeface="DM Sans" pitchFamily="34" charset="-120"/>
              </a:rPr>
              <a:t>Subscribers vs non-subscribers</a:t>
            </a:r>
            <a:endParaRPr lang="en-US" sz="1750" dirty="0"/>
          </a:p>
        </p:txBody>
      </p:sp>
      <p:sp>
        <p:nvSpPr>
          <p:cNvPr id="13" name="Text 4">
            <a:extLst>
              <a:ext uri="{FF2B5EF4-FFF2-40B4-BE49-F238E27FC236}">
                <a16:creationId xmlns:a16="http://schemas.microsoft.com/office/drawing/2014/main" id="{820F7247-C5A7-75A4-BE1D-BC0CE66B66EE}"/>
              </a:ext>
            </a:extLst>
          </p:cNvPr>
          <p:cNvSpPr/>
          <p:nvPr/>
        </p:nvSpPr>
        <p:spPr>
          <a:xfrm>
            <a:off x="4959833" y="2846502"/>
            <a:ext cx="2255742" cy="344165"/>
          </a:xfrm>
          <a:prstGeom prst="rect">
            <a:avLst/>
          </a:prstGeom>
          <a:noFill/>
          <a:ln/>
        </p:spPr>
        <p:txBody>
          <a:bodyPr wrap="none" lIns="0" tIns="0" rIns="0" bIns="0" rtlCol="0" anchor="t"/>
          <a:lstStyle/>
          <a:p>
            <a:pPr marL="0" indent="0" algn="ctr">
              <a:lnSpc>
                <a:spcPts val="4450"/>
              </a:lnSpc>
              <a:buNone/>
            </a:pPr>
            <a:r>
              <a:rPr lang="en-US" sz="4450" dirty="0">
                <a:solidFill>
                  <a:srgbClr val="454240"/>
                </a:solidFill>
                <a:latin typeface="Libre Baskerville" pitchFamily="34" charset="0"/>
                <a:ea typeface="Libre Baskerville" pitchFamily="34" charset="-122"/>
                <a:cs typeface="Libre Baskerville" pitchFamily="34" charset="-120"/>
              </a:rPr>
              <a:t>45%</a:t>
            </a:r>
            <a:endParaRPr lang="en-US" sz="4450" dirty="0"/>
          </a:p>
        </p:txBody>
      </p:sp>
      <p:pic>
        <p:nvPicPr>
          <p:cNvPr id="15" name="Image 1" descr="preencoded.png">
            <a:extLst>
              <a:ext uri="{FF2B5EF4-FFF2-40B4-BE49-F238E27FC236}">
                <a16:creationId xmlns:a16="http://schemas.microsoft.com/office/drawing/2014/main" id="{A79B262A-1AAA-C2FE-BF5A-DDAF2E85744B}"/>
              </a:ext>
            </a:extLst>
          </p:cNvPr>
          <p:cNvPicPr>
            <a:picLocks noChangeAspect="1"/>
          </p:cNvPicPr>
          <p:nvPr/>
        </p:nvPicPr>
        <p:blipFill>
          <a:blip r:embed="rId3"/>
          <a:stretch>
            <a:fillRect/>
          </a:stretch>
        </p:blipFill>
        <p:spPr>
          <a:xfrm>
            <a:off x="4770980" y="1857403"/>
            <a:ext cx="2750942" cy="2750942"/>
          </a:xfrm>
          <a:prstGeom prst="rect">
            <a:avLst/>
          </a:prstGeom>
        </p:spPr>
      </p:pic>
      <p:sp>
        <p:nvSpPr>
          <p:cNvPr id="17" name="Text 5">
            <a:extLst>
              <a:ext uri="{FF2B5EF4-FFF2-40B4-BE49-F238E27FC236}">
                <a16:creationId xmlns:a16="http://schemas.microsoft.com/office/drawing/2014/main" id="{1A8C72F5-2ECC-8FFA-D21D-18A5D90AEDE0}"/>
              </a:ext>
            </a:extLst>
          </p:cNvPr>
          <p:cNvSpPr/>
          <p:nvPr/>
        </p:nvSpPr>
        <p:spPr>
          <a:xfrm>
            <a:off x="4945896" y="5031076"/>
            <a:ext cx="2292420" cy="215086"/>
          </a:xfrm>
          <a:prstGeom prst="rect">
            <a:avLst/>
          </a:prstGeom>
          <a:noFill/>
          <a:ln/>
        </p:spPr>
        <p:txBody>
          <a:bodyPr wrap="none" lIns="0" tIns="0" rIns="0" bIns="0" rtlCol="0" anchor="t"/>
          <a:lstStyle/>
          <a:p>
            <a:pPr marL="0" indent="0" algn="ctr">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Revenue Share</a:t>
            </a:r>
            <a:endParaRPr lang="en-US" sz="2200" dirty="0"/>
          </a:p>
        </p:txBody>
      </p:sp>
      <p:sp>
        <p:nvSpPr>
          <p:cNvPr id="19" name="Text 6">
            <a:extLst>
              <a:ext uri="{FF2B5EF4-FFF2-40B4-BE49-F238E27FC236}">
                <a16:creationId xmlns:a16="http://schemas.microsoft.com/office/drawing/2014/main" id="{D60BB275-454B-F15A-325F-F751E7C36349}"/>
              </a:ext>
            </a:extLst>
          </p:cNvPr>
          <p:cNvSpPr/>
          <p:nvPr/>
        </p:nvSpPr>
        <p:spPr>
          <a:xfrm>
            <a:off x="4537630" y="5524865"/>
            <a:ext cx="3362435" cy="220289"/>
          </a:xfrm>
          <a:prstGeom prst="rect">
            <a:avLst/>
          </a:prstGeom>
          <a:noFill/>
          <a:ln/>
        </p:spPr>
        <p:txBody>
          <a:bodyPr wrap="none" lIns="0" tIns="0" rIns="0" bIns="0" rtlCol="0" anchor="t"/>
          <a:lstStyle/>
          <a:p>
            <a:pPr marL="0" indent="0" algn="ctr">
              <a:lnSpc>
                <a:spcPts val="2850"/>
              </a:lnSpc>
              <a:buNone/>
            </a:pPr>
            <a:r>
              <a:rPr lang="en-US" sz="1750" dirty="0">
                <a:solidFill>
                  <a:srgbClr val="454240"/>
                </a:solidFill>
                <a:latin typeface="DM Sans" pitchFamily="34" charset="0"/>
                <a:ea typeface="DM Sans" pitchFamily="34" charset="-122"/>
                <a:cs typeface="DM Sans" pitchFamily="34" charset="-120"/>
              </a:rPr>
              <a:t>From subscription customers</a:t>
            </a:r>
            <a:endParaRPr lang="en-US" sz="1750" dirty="0"/>
          </a:p>
        </p:txBody>
      </p:sp>
      <p:sp>
        <p:nvSpPr>
          <p:cNvPr id="21" name="Text 7">
            <a:extLst>
              <a:ext uri="{FF2B5EF4-FFF2-40B4-BE49-F238E27FC236}">
                <a16:creationId xmlns:a16="http://schemas.microsoft.com/office/drawing/2014/main" id="{C04F2E86-C6A1-666D-4622-08C3A67F101D}"/>
              </a:ext>
            </a:extLst>
          </p:cNvPr>
          <p:cNvSpPr/>
          <p:nvPr/>
        </p:nvSpPr>
        <p:spPr>
          <a:xfrm>
            <a:off x="9401936" y="2846502"/>
            <a:ext cx="2255742" cy="344165"/>
          </a:xfrm>
          <a:prstGeom prst="rect">
            <a:avLst/>
          </a:prstGeom>
          <a:noFill/>
          <a:ln/>
        </p:spPr>
        <p:txBody>
          <a:bodyPr wrap="none" lIns="0" tIns="0" rIns="0" bIns="0" rtlCol="0" anchor="t"/>
          <a:lstStyle/>
          <a:p>
            <a:pPr marL="0" indent="0" algn="ctr">
              <a:lnSpc>
                <a:spcPts val="4450"/>
              </a:lnSpc>
              <a:buNone/>
            </a:pPr>
            <a:r>
              <a:rPr lang="en-US" sz="4450" dirty="0">
                <a:solidFill>
                  <a:srgbClr val="454240"/>
                </a:solidFill>
                <a:latin typeface="Libre Baskerville" pitchFamily="34" charset="0"/>
                <a:ea typeface="Libre Baskerville" pitchFamily="34" charset="-122"/>
                <a:cs typeface="Libre Baskerville" pitchFamily="34" charset="-120"/>
              </a:rPr>
              <a:t>78%</a:t>
            </a:r>
            <a:endParaRPr lang="en-US" sz="4450" dirty="0"/>
          </a:p>
        </p:txBody>
      </p:sp>
      <p:pic>
        <p:nvPicPr>
          <p:cNvPr id="23" name="Image 2" descr="preencoded.png">
            <a:extLst>
              <a:ext uri="{FF2B5EF4-FFF2-40B4-BE49-F238E27FC236}">
                <a16:creationId xmlns:a16="http://schemas.microsoft.com/office/drawing/2014/main" id="{2434631B-792B-B850-AE99-7498EC1324CC}"/>
              </a:ext>
            </a:extLst>
          </p:cNvPr>
          <p:cNvPicPr>
            <a:picLocks noChangeAspect="1"/>
          </p:cNvPicPr>
          <p:nvPr/>
        </p:nvPicPr>
        <p:blipFill>
          <a:blip r:embed="rId4"/>
          <a:stretch>
            <a:fillRect/>
          </a:stretch>
        </p:blipFill>
        <p:spPr>
          <a:xfrm>
            <a:off x="9213083" y="1857403"/>
            <a:ext cx="2750942" cy="2750942"/>
          </a:xfrm>
          <a:prstGeom prst="rect">
            <a:avLst/>
          </a:prstGeom>
        </p:spPr>
      </p:pic>
      <p:sp>
        <p:nvSpPr>
          <p:cNvPr id="25" name="Text 8">
            <a:extLst>
              <a:ext uri="{FF2B5EF4-FFF2-40B4-BE49-F238E27FC236}">
                <a16:creationId xmlns:a16="http://schemas.microsoft.com/office/drawing/2014/main" id="{620C8F83-B9FA-D0CF-17B1-EEAC1535C44E}"/>
              </a:ext>
            </a:extLst>
          </p:cNvPr>
          <p:cNvSpPr/>
          <p:nvPr/>
        </p:nvSpPr>
        <p:spPr>
          <a:xfrm>
            <a:off x="9387999" y="5031076"/>
            <a:ext cx="2292420" cy="215086"/>
          </a:xfrm>
          <a:prstGeom prst="rect">
            <a:avLst/>
          </a:prstGeom>
          <a:noFill/>
          <a:ln/>
        </p:spPr>
        <p:txBody>
          <a:bodyPr wrap="none" lIns="0" tIns="0" rIns="0" bIns="0" rtlCol="0" anchor="t"/>
          <a:lstStyle/>
          <a:p>
            <a:pPr marL="0" indent="0" algn="ctr">
              <a:lnSpc>
                <a:spcPts val="2750"/>
              </a:lnSpc>
              <a:buNone/>
            </a:pPr>
            <a:r>
              <a:rPr lang="en-US" sz="2200" dirty="0">
                <a:solidFill>
                  <a:srgbClr val="454240"/>
                </a:solidFill>
                <a:latin typeface="Libre Baskerville" pitchFamily="34" charset="0"/>
                <a:ea typeface="Libre Baskerville" pitchFamily="34" charset="-122"/>
                <a:cs typeface="Libre Baskerville" pitchFamily="34" charset="-120"/>
              </a:rPr>
              <a:t>Loyalty Rate</a:t>
            </a:r>
            <a:endParaRPr lang="en-US" sz="2200" dirty="0"/>
          </a:p>
        </p:txBody>
      </p:sp>
      <p:sp>
        <p:nvSpPr>
          <p:cNvPr id="27" name="Text 9">
            <a:extLst>
              <a:ext uri="{FF2B5EF4-FFF2-40B4-BE49-F238E27FC236}">
                <a16:creationId xmlns:a16="http://schemas.microsoft.com/office/drawing/2014/main" id="{3007198F-F605-211B-AF7B-447790C67573}"/>
              </a:ext>
            </a:extLst>
          </p:cNvPr>
          <p:cNvSpPr/>
          <p:nvPr/>
        </p:nvSpPr>
        <p:spPr>
          <a:xfrm>
            <a:off x="8979732" y="5524865"/>
            <a:ext cx="3362435" cy="220289"/>
          </a:xfrm>
          <a:prstGeom prst="rect">
            <a:avLst/>
          </a:prstGeom>
          <a:noFill/>
          <a:ln/>
        </p:spPr>
        <p:txBody>
          <a:bodyPr wrap="none" lIns="0" tIns="0" rIns="0" bIns="0" rtlCol="0" anchor="t"/>
          <a:lstStyle/>
          <a:p>
            <a:pPr marL="0" indent="0" algn="ctr">
              <a:lnSpc>
                <a:spcPts val="2850"/>
              </a:lnSpc>
              <a:buNone/>
            </a:pPr>
            <a:r>
              <a:rPr lang="en-US" sz="1750" dirty="0">
                <a:solidFill>
                  <a:srgbClr val="454240"/>
                </a:solidFill>
                <a:latin typeface="DM Sans" pitchFamily="34" charset="0"/>
                <a:ea typeface="DM Sans" pitchFamily="34" charset="-122"/>
                <a:cs typeface="DM Sans" pitchFamily="34" charset="-120"/>
              </a:rPr>
              <a:t>Repeat purchase frequency</a:t>
            </a:r>
            <a:endParaRPr lang="en-US" sz="1750" dirty="0"/>
          </a:p>
        </p:txBody>
      </p:sp>
    </p:spTree>
    <p:extLst>
      <p:ext uri="{BB962C8B-B14F-4D97-AF65-F5344CB8AC3E}">
        <p14:creationId xmlns:p14="http://schemas.microsoft.com/office/powerpoint/2010/main" val="1652200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BC395D-4431-7C63-81DF-BA8AF13B7B24}"/>
              </a:ext>
            </a:extLst>
          </p:cNvPr>
          <p:cNvSpPr txBox="1"/>
          <p:nvPr/>
        </p:nvSpPr>
        <p:spPr>
          <a:xfrm>
            <a:off x="3002995" y="47068"/>
            <a:ext cx="5816016" cy="646331"/>
          </a:xfrm>
          <a:prstGeom prst="rect">
            <a:avLst/>
          </a:prstGeom>
          <a:noFill/>
        </p:spPr>
        <p:txBody>
          <a:bodyPr wrap="none" rtlCol="0">
            <a:spAutoFit/>
          </a:bodyPr>
          <a:lstStyle/>
          <a:p>
            <a:r>
              <a:rPr lang="en-IN" sz="3600" dirty="0">
                <a:solidFill>
                  <a:srgbClr val="5C4E3D"/>
                </a:solidFill>
                <a:latin typeface="Libre Baskerville" pitchFamily="34" charset="0"/>
              </a:rPr>
              <a:t>Dashboard in Power BI </a:t>
            </a:r>
          </a:p>
        </p:txBody>
      </p:sp>
      <p:pic>
        <p:nvPicPr>
          <p:cNvPr id="9" name="Picture 8">
            <a:extLst>
              <a:ext uri="{FF2B5EF4-FFF2-40B4-BE49-F238E27FC236}">
                <a16:creationId xmlns:a16="http://schemas.microsoft.com/office/drawing/2014/main" id="{73DFF4F1-E599-AA32-0EE8-70F9C94534F1}"/>
              </a:ext>
            </a:extLst>
          </p:cNvPr>
          <p:cNvPicPr>
            <a:picLocks noChangeAspect="1"/>
          </p:cNvPicPr>
          <p:nvPr/>
        </p:nvPicPr>
        <p:blipFill>
          <a:blip r:embed="rId2"/>
          <a:stretch>
            <a:fillRect/>
          </a:stretch>
        </p:blipFill>
        <p:spPr>
          <a:xfrm>
            <a:off x="1412757" y="1372947"/>
            <a:ext cx="8488327" cy="5376428"/>
          </a:xfrm>
          <a:prstGeom prst="rect">
            <a:avLst/>
          </a:prstGeom>
          <a:ln>
            <a:solidFill>
              <a:schemeClr val="tx1"/>
            </a:solidFill>
          </a:ln>
        </p:spPr>
      </p:pic>
      <p:sp>
        <p:nvSpPr>
          <p:cNvPr id="10" name="TextBox 9">
            <a:extLst>
              <a:ext uri="{FF2B5EF4-FFF2-40B4-BE49-F238E27FC236}">
                <a16:creationId xmlns:a16="http://schemas.microsoft.com/office/drawing/2014/main" id="{E5DDEBF9-565F-38C8-9715-391FE8BC0EE6}"/>
              </a:ext>
            </a:extLst>
          </p:cNvPr>
          <p:cNvSpPr txBox="1"/>
          <p:nvPr/>
        </p:nvSpPr>
        <p:spPr>
          <a:xfrm>
            <a:off x="1061884" y="848507"/>
            <a:ext cx="7698133" cy="369332"/>
          </a:xfrm>
          <a:prstGeom prst="rect">
            <a:avLst/>
          </a:prstGeom>
          <a:noFill/>
        </p:spPr>
        <p:txBody>
          <a:bodyPr wrap="none" rtlCol="0">
            <a:spAutoFit/>
          </a:bodyPr>
          <a:lstStyle/>
          <a:p>
            <a:r>
              <a:rPr lang="en-IN" dirty="0"/>
              <a:t>Finally, we built an interactive dashboard in Power BI to present insights visually.</a:t>
            </a:r>
          </a:p>
        </p:txBody>
      </p:sp>
    </p:spTree>
    <p:extLst>
      <p:ext uri="{BB962C8B-B14F-4D97-AF65-F5344CB8AC3E}">
        <p14:creationId xmlns:p14="http://schemas.microsoft.com/office/powerpoint/2010/main" val="1474018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hape 13">
            <a:extLst>
              <a:ext uri="{FF2B5EF4-FFF2-40B4-BE49-F238E27FC236}">
                <a16:creationId xmlns:a16="http://schemas.microsoft.com/office/drawing/2014/main" id="{140F22B2-8C08-102C-F68C-2B1FC2A5A628}"/>
              </a:ext>
            </a:extLst>
          </p:cNvPr>
          <p:cNvSpPr/>
          <p:nvPr/>
        </p:nvSpPr>
        <p:spPr>
          <a:xfrm>
            <a:off x="5592551" y="1549344"/>
            <a:ext cx="6254449" cy="1052478"/>
          </a:xfrm>
          <a:prstGeom prst="roundRect">
            <a:avLst>
              <a:gd name="adj" fmla="val 4261"/>
            </a:avLst>
          </a:prstGeom>
          <a:solidFill>
            <a:srgbClr val="F7EDD4"/>
          </a:solidFill>
          <a:ln w="7620">
            <a:solidFill>
              <a:srgbClr val="DDD3BA"/>
            </a:solidFill>
            <a:prstDash val="solid"/>
          </a:ln>
        </p:spPr>
        <p:txBody>
          <a:bodyPr/>
          <a:lstStyle/>
          <a:p>
            <a:endParaRPr lang="en-IN" dirty="0"/>
          </a:p>
        </p:txBody>
      </p:sp>
      <p:sp>
        <p:nvSpPr>
          <p:cNvPr id="53" name="Shape 13">
            <a:extLst>
              <a:ext uri="{FF2B5EF4-FFF2-40B4-BE49-F238E27FC236}">
                <a16:creationId xmlns:a16="http://schemas.microsoft.com/office/drawing/2014/main" id="{D7E4B60D-074E-8BAD-1A7A-8048C12ED460}"/>
              </a:ext>
            </a:extLst>
          </p:cNvPr>
          <p:cNvSpPr/>
          <p:nvPr/>
        </p:nvSpPr>
        <p:spPr>
          <a:xfrm>
            <a:off x="5592552" y="2814382"/>
            <a:ext cx="6254449" cy="1052478"/>
          </a:xfrm>
          <a:prstGeom prst="roundRect">
            <a:avLst>
              <a:gd name="adj" fmla="val 4261"/>
            </a:avLst>
          </a:prstGeom>
          <a:solidFill>
            <a:srgbClr val="F7EDD4"/>
          </a:solidFill>
          <a:ln w="7620">
            <a:solidFill>
              <a:srgbClr val="DDD3BA"/>
            </a:solidFill>
            <a:prstDash val="solid"/>
          </a:ln>
        </p:spPr>
        <p:txBody>
          <a:bodyPr/>
          <a:lstStyle/>
          <a:p>
            <a:endParaRPr lang="en-IN" dirty="0"/>
          </a:p>
        </p:txBody>
      </p:sp>
      <p:sp>
        <p:nvSpPr>
          <p:cNvPr id="51" name="Shape 13">
            <a:extLst>
              <a:ext uri="{FF2B5EF4-FFF2-40B4-BE49-F238E27FC236}">
                <a16:creationId xmlns:a16="http://schemas.microsoft.com/office/drawing/2014/main" id="{D28CF33F-075E-3BE5-8217-A7429FA838D8}"/>
              </a:ext>
            </a:extLst>
          </p:cNvPr>
          <p:cNvSpPr/>
          <p:nvPr/>
        </p:nvSpPr>
        <p:spPr>
          <a:xfrm>
            <a:off x="5592552" y="4096624"/>
            <a:ext cx="6254449" cy="1052478"/>
          </a:xfrm>
          <a:prstGeom prst="roundRect">
            <a:avLst>
              <a:gd name="adj" fmla="val 4261"/>
            </a:avLst>
          </a:prstGeom>
          <a:solidFill>
            <a:srgbClr val="F7EDD4"/>
          </a:solidFill>
          <a:ln w="7620">
            <a:solidFill>
              <a:srgbClr val="DDD3BA"/>
            </a:solidFill>
            <a:prstDash val="solid"/>
          </a:ln>
        </p:spPr>
        <p:txBody>
          <a:bodyPr/>
          <a:lstStyle/>
          <a:p>
            <a:endParaRPr lang="en-IN" dirty="0"/>
          </a:p>
        </p:txBody>
      </p:sp>
      <p:sp>
        <p:nvSpPr>
          <p:cNvPr id="5" name="Text 0">
            <a:extLst>
              <a:ext uri="{FF2B5EF4-FFF2-40B4-BE49-F238E27FC236}">
                <a16:creationId xmlns:a16="http://schemas.microsoft.com/office/drawing/2014/main" id="{6D09F750-3A6C-92F8-1ED2-00F6FC61F4B4}"/>
              </a:ext>
            </a:extLst>
          </p:cNvPr>
          <p:cNvSpPr/>
          <p:nvPr/>
        </p:nvSpPr>
        <p:spPr>
          <a:xfrm>
            <a:off x="6436620" y="-624313"/>
            <a:ext cx="5660827" cy="489466"/>
          </a:xfrm>
          <a:prstGeom prst="rect">
            <a:avLst/>
          </a:prstGeom>
          <a:noFill/>
          <a:ln/>
        </p:spPr>
        <p:txBody>
          <a:bodyPr wrap="none" lIns="0" tIns="0" rIns="0" bIns="0" rtlCol="0" anchor="t"/>
          <a:lstStyle/>
          <a:p>
            <a:pPr marL="0" indent="0" algn="l">
              <a:lnSpc>
                <a:spcPts val="3850"/>
              </a:lnSpc>
              <a:buNone/>
            </a:pPr>
            <a:r>
              <a:rPr lang="en-US" sz="3050" dirty="0">
                <a:solidFill>
                  <a:srgbClr val="5C4E3D"/>
                </a:solidFill>
                <a:latin typeface="Libre Baskerville" pitchFamily="34" charset="0"/>
                <a:ea typeface="Libre Baskerville" pitchFamily="34" charset="-122"/>
                <a:cs typeface="Libre Baskerville" pitchFamily="34" charset="-120"/>
              </a:rPr>
              <a:t>Strategic Recommendations</a:t>
            </a:r>
            <a:endParaRPr lang="en-US" sz="3050" dirty="0"/>
          </a:p>
        </p:txBody>
      </p:sp>
      <p:sp>
        <p:nvSpPr>
          <p:cNvPr id="9" name="Shape 2">
            <a:extLst>
              <a:ext uri="{FF2B5EF4-FFF2-40B4-BE49-F238E27FC236}">
                <a16:creationId xmlns:a16="http://schemas.microsoft.com/office/drawing/2014/main" id="{5ACD6772-6F2A-D7EC-34F5-C6CE0D8E4701}"/>
              </a:ext>
            </a:extLst>
          </p:cNvPr>
          <p:cNvSpPr/>
          <p:nvPr/>
        </p:nvSpPr>
        <p:spPr>
          <a:xfrm>
            <a:off x="5659507" y="1805102"/>
            <a:ext cx="519220" cy="469940"/>
          </a:xfrm>
          <a:prstGeom prst="roundRect">
            <a:avLst>
              <a:gd name="adj" fmla="val 19455857"/>
            </a:avLst>
          </a:prstGeom>
          <a:solidFill>
            <a:srgbClr val="B88E23"/>
          </a:solidFill>
          <a:ln/>
        </p:spPr>
        <p:txBody>
          <a:bodyPr/>
          <a:lstStyle/>
          <a:p>
            <a:endParaRPr lang="en-IN"/>
          </a:p>
        </p:txBody>
      </p:sp>
      <p:pic>
        <p:nvPicPr>
          <p:cNvPr id="11" name="Image 1" descr="preencoded.png">
            <a:extLst>
              <a:ext uri="{FF2B5EF4-FFF2-40B4-BE49-F238E27FC236}">
                <a16:creationId xmlns:a16="http://schemas.microsoft.com/office/drawing/2014/main" id="{9FE66E32-F7C1-EDEE-3C64-5CCB624113FD}"/>
              </a:ext>
            </a:extLst>
          </p:cNvPr>
          <p:cNvPicPr>
            <a:picLocks noChangeAspect="1"/>
          </p:cNvPicPr>
          <p:nvPr/>
        </p:nvPicPr>
        <p:blipFill>
          <a:blip r:embed="rId2"/>
          <a:stretch>
            <a:fillRect/>
          </a:stretch>
        </p:blipFill>
        <p:spPr>
          <a:xfrm>
            <a:off x="5788690" y="1907853"/>
            <a:ext cx="233629" cy="264319"/>
          </a:xfrm>
          <a:prstGeom prst="rect">
            <a:avLst/>
          </a:prstGeom>
        </p:spPr>
      </p:pic>
      <p:sp>
        <p:nvSpPr>
          <p:cNvPr id="13" name="Text 3">
            <a:extLst>
              <a:ext uri="{FF2B5EF4-FFF2-40B4-BE49-F238E27FC236}">
                <a16:creationId xmlns:a16="http://schemas.microsoft.com/office/drawing/2014/main" id="{CDB951D3-9F28-F902-CE46-C0723AE662CF}"/>
              </a:ext>
            </a:extLst>
          </p:cNvPr>
          <p:cNvSpPr/>
          <p:nvPr/>
        </p:nvSpPr>
        <p:spPr>
          <a:xfrm>
            <a:off x="6325033" y="1818288"/>
            <a:ext cx="2198562" cy="244793"/>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Boost Subscriptions</a:t>
            </a:r>
            <a:endParaRPr lang="en-US" sz="1500" dirty="0"/>
          </a:p>
        </p:txBody>
      </p:sp>
      <p:sp>
        <p:nvSpPr>
          <p:cNvPr id="15" name="Text 4">
            <a:extLst>
              <a:ext uri="{FF2B5EF4-FFF2-40B4-BE49-F238E27FC236}">
                <a16:creationId xmlns:a16="http://schemas.microsoft.com/office/drawing/2014/main" id="{A040FB72-AE2A-AC59-808A-7A01EA03E7B9}"/>
              </a:ext>
            </a:extLst>
          </p:cNvPr>
          <p:cNvSpPr/>
          <p:nvPr/>
        </p:nvSpPr>
        <p:spPr>
          <a:xfrm>
            <a:off x="6325033" y="2143386"/>
            <a:ext cx="3485583" cy="279320"/>
          </a:xfrm>
          <a:prstGeom prst="rect">
            <a:avLst/>
          </a:prstGeom>
          <a:noFill/>
          <a:ln/>
        </p:spPr>
        <p:txBody>
          <a:bodyPr wrap="non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Promote exclusive benefits for subscribers</a:t>
            </a:r>
            <a:endParaRPr lang="en-US" sz="1200" dirty="0"/>
          </a:p>
        </p:txBody>
      </p:sp>
      <p:sp>
        <p:nvSpPr>
          <p:cNvPr id="19" name="Shape 6">
            <a:extLst>
              <a:ext uri="{FF2B5EF4-FFF2-40B4-BE49-F238E27FC236}">
                <a16:creationId xmlns:a16="http://schemas.microsoft.com/office/drawing/2014/main" id="{89AE00BF-E927-EB13-A352-68C4F6942846}"/>
              </a:ext>
            </a:extLst>
          </p:cNvPr>
          <p:cNvSpPr/>
          <p:nvPr/>
        </p:nvSpPr>
        <p:spPr>
          <a:xfrm>
            <a:off x="5659507" y="3104536"/>
            <a:ext cx="519220" cy="469940"/>
          </a:xfrm>
          <a:prstGeom prst="roundRect">
            <a:avLst>
              <a:gd name="adj" fmla="val 19455857"/>
            </a:avLst>
          </a:prstGeom>
          <a:solidFill>
            <a:srgbClr val="B88E23"/>
          </a:solidFill>
          <a:ln/>
        </p:spPr>
        <p:txBody>
          <a:bodyPr/>
          <a:lstStyle/>
          <a:p>
            <a:endParaRPr lang="en-IN"/>
          </a:p>
        </p:txBody>
      </p:sp>
      <p:pic>
        <p:nvPicPr>
          <p:cNvPr id="21" name="Image 2" descr="preencoded.png">
            <a:extLst>
              <a:ext uri="{FF2B5EF4-FFF2-40B4-BE49-F238E27FC236}">
                <a16:creationId xmlns:a16="http://schemas.microsoft.com/office/drawing/2014/main" id="{AAAED349-5801-A468-82D8-C644AA399BB6}"/>
              </a:ext>
            </a:extLst>
          </p:cNvPr>
          <p:cNvPicPr>
            <a:picLocks noChangeAspect="1"/>
          </p:cNvPicPr>
          <p:nvPr/>
        </p:nvPicPr>
        <p:blipFill>
          <a:blip r:embed="rId3"/>
          <a:stretch>
            <a:fillRect/>
          </a:stretch>
        </p:blipFill>
        <p:spPr>
          <a:xfrm>
            <a:off x="5788690" y="3207287"/>
            <a:ext cx="233629" cy="264319"/>
          </a:xfrm>
          <a:prstGeom prst="rect">
            <a:avLst/>
          </a:prstGeom>
        </p:spPr>
      </p:pic>
      <p:sp>
        <p:nvSpPr>
          <p:cNvPr id="23" name="Text 7">
            <a:extLst>
              <a:ext uri="{FF2B5EF4-FFF2-40B4-BE49-F238E27FC236}">
                <a16:creationId xmlns:a16="http://schemas.microsoft.com/office/drawing/2014/main" id="{82935F29-D68D-5C6D-F8C0-C559532212DA}"/>
              </a:ext>
            </a:extLst>
          </p:cNvPr>
          <p:cNvSpPr/>
          <p:nvPr/>
        </p:nvSpPr>
        <p:spPr>
          <a:xfrm>
            <a:off x="6330492" y="3094653"/>
            <a:ext cx="2163438" cy="244793"/>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Loyalty Programs</a:t>
            </a:r>
            <a:endParaRPr lang="en-US" sz="1500" dirty="0"/>
          </a:p>
        </p:txBody>
      </p:sp>
      <p:sp>
        <p:nvSpPr>
          <p:cNvPr id="25" name="Text 8">
            <a:extLst>
              <a:ext uri="{FF2B5EF4-FFF2-40B4-BE49-F238E27FC236}">
                <a16:creationId xmlns:a16="http://schemas.microsoft.com/office/drawing/2014/main" id="{06205E4F-B21E-4013-1EFC-59DD076303FC}"/>
              </a:ext>
            </a:extLst>
          </p:cNvPr>
          <p:cNvSpPr/>
          <p:nvPr/>
        </p:nvSpPr>
        <p:spPr>
          <a:xfrm>
            <a:off x="6325033" y="3370951"/>
            <a:ext cx="3615380" cy="384972"/>
          </a:xfrm>
          <a:prstGeom prst="rect">
            <a:avLst/>
          </a:prstGeom>
          <a:noFill/>
          <a:ln/>
        </p:spPr>
        <p:txBody>
          <a:bodyPr wrap="non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Reward repeat buyers to increase retention</a:t>
            </a:r>
            <a:endParaRPr lang="en-US" sz="1200" dirty="0"/>
          </a:p>
        </p:txBody>
      </p:sp>
      <p:sp>
        <p:nvSpPr>
          <p:cNvPr id="29" name="Shape 10">
            <a:extLst>
              <a:ext uri="{FF2B5EF4-FFF2-40B4-BE49-F238E27FC236}">
                <a16:creationId xmlns:a16="http://schemas.microsoft.com/office/drawing/2014/main" id="{5F6194B6-ABD2-290D-09E4-9FC955876506}"/>
              </a:ext>
            </a:extLst>
          </p:cNvPr>
          <p:cNvSpPr/>
          <p:nvPr/>
        </p:nvSpPr>
        <p:spPr>
          <a:xfrm>
            <a:off x="5659507" y="4431089"/>
            <a:ext cx="519220" cy="469940"/>
          </a:xfrm>
          <a:prstGeom prst="roundRect">
            <a:avLst>
              <a:gd name="adj" fmla="val 19455857"/>
            </a:avLst>
          </a:prstGeom>
          <a:solidFill>
            <a:srgbClr val="B88E23"/>
          </a:solidFill>
          <a:ln/>
        </p:spPr>
        <p:txBody>
          <a:bodyPr/>
          <a:lstStyle/>
          <a:p>
            <a:endParaRPr lang="en-IN"/>
          </a:p>
        </p:txBody>
      </p:sp>
      <p:pic>
        <p:nvPicPr>
          <p:cNvPr id="31" name="Image 3" descr="preencoded.png">
            <a:extLst>
              <a:ext uri="{FF2B5EF4-FFF2-40B4-BE49-F238E27FC236}">
                <a16:creationId xmlns:a16="http://schemas.microsoft.com/office/drawing/2014/main" id="{1710060D-E6E0-7FA5-87E9-ECE2C976DA7C}"/>
              </a:ext>
            </a:extLst>
          </p:cNvPr>
          <p:cNvPicPr>
            <a:picLocks noChangeAspect="1"/>
          </p:cNvPicPr>
          <p:nvPr/>
        </p:nvPicPr>
        <p:blipFill>
          <a:blip r:embed="rId4"/>
          <a:stretch>
            <a:fillRect/>
          </a:stretch>
        </p:blipFill>
        <p:spPr>
          <a:xfrm>
            <a:off x="5788690" y="4533840"/>
            <a:ext cx="233629" cy="264319"/>
          </a:xfrm>
          <a:prstGeom prst="rect">
            <a:avLst/>
          </a:prstGeom>
        </p:spPr>
      </p:pic>
      <p:sp>
        <p:nvSpPr>
          <p:cNvPr id="33" name="Text 11">
            <a:extLst>
              <a:ext uri="{FF2B5EF4-FFF2-40B4-BE49-F238E27FC236}">
                <a16:creationId xmlns:a16="http://schemas.microsoft.com/office/drawing/2014/main" id="{8116C882-E776-CA88-23BE-5208F84EB4C2}"/>
              </a:ext>
            </a:extLst>
          </p:cNvPr>
          <p:cNvSpPr/>
          <p:nvPr/>
        </p:nvSpPr>
        <p:spPr>
          <a:xfrm>
            <a:off x="6298789" y="4421206"/>
            <a:ext cx="2182118" cy="244793"/>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Targeted Marketing</a:t>
            </a:r>
            <a:endParaRPr lang="en-US" sz="1500" dirty="0"/>
          </a:p>
        </p:txBody>
      </p:sp>
      <p:sp>
        <p:nvSpPr>
          <p:cNvPr id="35" name="Text 12">
            <a:extLst>
              <a:ext uri="{FF2B5EF4-FFF2-40B4-BE49-F238E27FC236}">
                <a16:creationId xmlns:a16="http://schemas.microsoft.com/office/drawing/2014/main" id="{3FD184E2-1A30-E06F-8B87-5D7EC63853CF}"/>
              </a:ext>
            </a:extLst>
          </p:cNvPr>
          <p:cNvSpPr/>
          <p:nvPr/>
        </p:nvSpPr>
        <p:spPr>
          <a:xfrm>
            <a:off x="6325033" y="4735454"/>
            <a:ext cx="4175819" cy="322142"/>
          </a:xfrm>
          <a:prstGeom prst="rect">
            <a:avLst/>
          </a:prstGeom>
          <a:noFill/>
          <a:ln/>
        </p:spPr>
        <p:txBody>
          <a:bodyPr wrap="non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Focus on high-revenue segments and express users</a:t>
            </a:r>
            <a:endParaRPr lang="en-US" sz="1200" dirty="0"/>
          </a:p>
        </p:txBody>
      </p:sp>
      <p:sp>
        <p:nvSpPr>
          <p:cNvPr id="37" name="Shape 13">
            <a:extLst>
              <a:ext uri="{FF2B5EF4-FFF2-40B4-BE49-F238E27FC236}">
                <a16:creationId xmlns:a16="http://schemas.microsoft.com/office/drawing/2014/main" id="{F46F98B5-F272-7479-BB9C-EF4B71D732D1}"/>
              </a:ext>
            </a:extLst>
          </p:cNvPr>
          <p:cNvSpPr/>
          <p:nvPr/>
        </p:nvSpPr>
        <p:spPr>
          <a:xfrm>
            <a:off x="5592553" y="5336916"/>
            <a:ext cx="6254449" cy="1052478"/>
          </a:xfrm>
          <a:prstGeom prst="roundRect">
            <a:avLst>
              <a:gd name="adj" fmla="val 4261"/>
            </a:avLst>
          </a:prstGeom>
          <a:solidFill>
            <a:srgbClr val="F7EDD4"/>
          </a:solidFill>
          <a:ln w="7620">
            <a:solidFill>
              <a:srgbClr val="DDD3BA"/>
            </a:solidFill>
            <a:prstDash val="solid"/>
          </a:ln>
        </p:spPr>
        <p:txBody>
          <a:bodyPr/>
          <a:lstStyle/>
          <a:p>
            <a:endParaRPr lang="en-IN"/>
          </a:p>
        </p:txBody>
      </p:sp>
      <p:sp>
        <p:nvSpPr>
          <p:cNvPr id="39" name="Shape 14">
            <a:extLst>
              <a:ext uri="{FF2B5EF4-FFF2-40B4-BE49-F238E27FC236}">
                <a16:creationId xmlns:a16="http://schemas.microsoft.com/office/drawing/2014/main" id="{AD1F15CA-51CA-3F15-14A2-41627927276F}"/>
              </a:ext>
            </a:extLst>
          </p:cNvPr>
          <p:cNvSpPr/>
          <p:nvPr/>
        </p:nvSpPr>
        <p:spPr>
          <a:xfrm>
            <a:off x="5659507" y="5667018"/>
            <a:ext cx="519220" cy="469940"/>
          </a:xfrm>
          <a:prstGeom prst="roundRect">
            <a:avLst>
              <a:gd name="adj" fmla="val 19455857"/>
            </a:avLst>
          </a:prstGeom>
          <a:solidFill>
            <a:srgbClr val="B88E23"/>
          </a:solidFill>
          <a:ln/>
        </p:spPr>
        <p:txBody>
          <a:bodyPr/>
          <a:lstStyle/>
          <a:p>
            <a:endParaRPr lang="en-IN"/>
          </a:p>
        </p:txBody>
      </p:sp>
      <p:pic>
        <p:nvPicPr>
          <p:cNvPr id="41" name="Image 4" descr="preencoded.png">
            <a:extLst>
              <a:ext uri="{FF2B5EF4-FFF2-40B4-BE49-F238E27FC236}">
                <a16:creationId xmlns:a16="http://schemas.microsoft.com/office/drawing/2014/main" id="{CF2D5768-1730-16C9-E10E-72A3401A992B}"/>
              </a:ext>
            </a:extLst>
          </p:cNvPr>
          <p:cNvPicPr>
            <a:picLocks noChangeAspect="1"/>
          </p:cNvPicPr>
          <p:nvPr/>
        </p:nvPicPr>
        <p:blipFill>
          <a:blip r:embed="rId5"/>
          <a:stretch>
            <a:fillRect/>
          </a:stretch>
        </p:blipFill>
        <p:spPr>
          <a:xfrm>
            <a:off x="5788690" y="5769769"/>
            <a:ext cx="233629" cy="264319"/>
          </a:xfrm>
          <a:prstGeom prst="rect">
            <a:avLst/>
          </a:prstGeom>
        </p:spPr>
      </p:pic>
      <p:sp>
        <p:nvSpPr>
          <p:cNvPr id="43" name="Text 15">
            <a:extLst>
              <a:ext uri="{FF2B5EF4-FFF2-40B4-BE49-F238E27FC236}">
                <a16:creationId xmlns:a16="http://schemas.microsoft.com/office/drawing/2014/main" id="{773E2E2D-687B-6FA1-9B88-73CB427D102F}"/>
              </a:ext>
            </a:extLst>
          </p:cNvPr>
          <p:cNvSpPr/>
          <p:nvPr/>
        </p:nvSpPr>
        <p:spPr>
          <a:xfrm>
            <a:off x="6325033" y="5657136"/>
            <a:ext cx="2195141" cy="244793"/>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Product Positioning</a:t>
            </a:r>
            <a:endParaRPr lang="en-US" sz="1500" dirty="0"/>
          </a:p>
        </p:txBody>
      </p:sp>
      <p:sp>
        <p:nvSpPr>
          <p:cNvPr id="45" name="Text 16">
            <a:extLst>
              <a:ext uri="{FF2B5EF4-FFF2-40B4-BE49-F238E27FC236}">
                <a16:creationId xmlns:a16="http://schemas.microsoft.com/office/drawing/2014/main" id="{A8501292-A9DB-A00D-CA2E-30B6B704F379}"/>
              </a:ext>
            </a:extLst>
          </p:cNvPr>
          <p:cNvSpPr/>
          <p:nvPr/>
        </p:nvSpPr>
        <p:spPr>
          <a:xfrm>
            <a:off x="6298789" y="5970155"/>
            <a:ext cx="4615017" cy="244794"/>
          </a:xfrm>
          <a:prstGeom prst="rect">
            <a:avLst/>
          </a:prstGeom>
          <a:noFill/>
          <a:ln/>
        </p:spPr>
        <p:txBody>
          <a:bodyPr wrap="non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Highlight top-rated products in campaigns</a:t>
            </a:r>
            <a:endParaRPr lang="en-US" sz="1200" dirty="0"/>
          </a:p>
        </p:txBody>
      </p:sp>
      <p:pic>
        <p:nvPicPr>
          <p:cNvPr id="47" name="Image 0" descr="preencoded.png">
            <a:extLst>
              <a:ext uri="{FF2B5EF4-FFF2-40B4-BE49-F238E27FC236}">
                <a16:creationId xmlns:a16="http://schemas.microsoft.com/office/drawing/2014/main" id="{C28FD8C0-7993-824B-0E5F-5FAF81948D60}"/>
              </a:ext>
            </a:extLst>
          </p:cNvPr>
          <p:cNvPicPr>
            <a:picLocks noChangeAspect="1"/>
          </p:cNvPicPr>
          <p:nvPr/>
        </p:nvPicPr>
        <p:blipFill>
          <a:blip r:embed="rId6"/>
          <a:stretch>
            <a:fillRect/>
          </a:stretch>
        </p:blipFill>
        <p:spPr>
          <a:xfrm>
            <a:off x="101996" y="244907"/>
            <a:ext cx="5050107" cy="6368186"/>
          </a:xfrm>
          <a:prstGeom prst="rect">
            <a:avLst/>
          </a:prstGeom>
        </p:spPr>
      </p:pic>
      <p:sp>
        <p:nvSpPr>
          <p:cNvPr id="57" name="Text 0">
            <a:extLst>
              <a:ext uri="{FF2B5EF4-FFF2-40B4-BE49-F238E27FC236}">
                <a16:creationId xmlns:a16="http://schemas.microsoft.com/office/drawing/2014/main" id="{3EEB59EF-819F-2C83-505E-BA5A3E79DE80}"/>
              </a:ext>
            </a:extLst>
          </p:cNvPr>
          <p:cNvSpPr/>
          <p:nvPr/>
        </p:nvSpPr>
        <p:spPr>
          <a:xfrm>
            <a:off x="5404687" y="733098"/>
            <a:ext cx="5660827" cy="489466"/>
          </a:xfrm>
          <a:prstGeom prst="rect">
            <a:avLst/>
          </a:prstGeom>
          <a:noFill/>
          <a:ln/>
        </p:spPr>
        <p:txBody>
          <a:bodyPr wrap="none" lIns="0" tIns="0" rIns="0" bIns="0" rtlCol="0" anchor="t"/>
          <a:lstStyle/>
          <a:p>
            <a:pPr marL="0" indent="0" algn="l">
              <a:lnSpc>
                <a:spcPts val="3850"/>
              </a:lnSpc>
              <a:buNone/>
            </a:pPr>
            <a:r>
              <a:rPr lang="en-US" sz="3600" dirty="0">
                <a:solidFill>
                  <a:srgbClr val="5C4E3D"/>
                </a:solidFill>
                <a:latin typeface="Libre Baskerville" pitchFamily="34" charset="0"/>
                <a:ea typeface="Libre Baskerville" pitchFamily="34" charset="-122"/>
                <a:cs typeface="Libre Baskerville" pitchFamily="34" charset="-120"/>
              </a:rPr>
              <a:t>Strategic Recommendations</a:t>
            </a:r>
            <a:endParaRPr lang="en-US" sz="3600" dirty="0"/>
          </a:p>
        </p:txBody>
      </p:sp>
    </p:spTree>
    <p:extLst>
      <p:ext uri="{BB962C8B-B14F-4D97-AF65-F5344CB8AC3E}">
        <p14:creationId xmlns:p14="http://schemas.microsoft.com/office/powerpoint/2010/main" val="1814581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Customer-Shopping-Behavior-Analysis</Template>
  <TotalTime>362</TotalTime>
  <Words>643</Words>
  <Application>Microsoft Office PowerPoint</Application>
  <PresentationFormat>Widescreen</PresentationFormat>
  <Paragraphs>156</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DM Sans</vt:lpstr>
      <vt:lpstr>Libre Baskerville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Ashlesha Rahane</dc:creator>
  <cp:lastModifiedBy>Ashlesha Rahane</cp:lastModifiedBy>
  <cp:revision>6</cp:revision>
  <dcterms:created xsi:type="dcterms:W3CDTF">2026-08-23T10:00:34Z</dcterms:created>
  <dcterms:modified xsi:type="dcterms:W3CDTF">2026-08-23T16:02:38Z</dcterms:modified>
</cp:coreProperties>
</file>